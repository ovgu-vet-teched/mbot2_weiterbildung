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Begrüßung. Kernbotschaft: Erst selbst ausprobieren, dann planen. Was Sie heute am mBot2 erleben – Zeitbedarf, Stolperstellen, Aha-Momente – wird zur Grundlage Ihrer Unterrichtsplanung.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Blitzlicht reihum, ein Satz pro Person. Wer möchte, vergleicht bereits seine Selbsteinschätzung aus Sitzung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Grundprinzip aus der erprobten Planungssession. Die Erprobung hat dort auch Planungsfehler sichtbar gemacht, die am Schreibtisch unbemerkt geblieben wären (z. B. Montag sah noch den Zusammenbau vor).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Erfahrung aus der Erprobung: Ohne gemeinsame Klassenstufe planten die Gruppen für unterschiedliche Jahrgänge, Anspruch und Übergaben passten nicht zusammen. Deshalb verbindlich Klasse 7. Eine offene Gruppe für weitere Fächer (Deutsch, Ethik, Biologie …) ist möglich.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weniger Teilnehmenden (2–3 Gruppen) die Präsentationsphase pro Gruppe verlängern (siehe Moderationsleitfaden, Abschnitt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Selbstreflexion der Erprobung: Die Beteiligung war ungleich verteilt; Rollen sollen explizit benannt und gewechselt werden. Die Rolle Zeit und Beobachtung ist neu und liefert die Daten für die Zeitplanung.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Aufgabenkarten mit Details und Erweiterungen stehen im Arbeitsheft. Lösungen und Erwartungen im Lösungsheft.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Leitung geht herum und stellt diese Fragen. Beobachtungen für die Präsentationsphase notieren.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Minuten Planungszeit. Nach 10 Minuten prüft die Leitung bei jeder Gruppe das Lernziel: Ist es fachlich? Ist es überprüfbar?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Bezug zum Wissenscheck 3, Frage 1. Operatoren: berechnen, begründen, darstellen, deuten, erklären, vergleichen.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Ausgangsmaterial wurde der Test „Ginge es ohne Technik?“ als hartes Kriterium verwendet. Das ist zu streng: Auch ein begründetes „Ja, aber …“ kann gute Gründe haben.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Gruppe sammelt die Karten ein und nimmt mindestens eine Anregung in ihren Plan auf (Erwartungshorizont LZ 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Übergabe-Matrix gemeinsam an der Pinnwand ergänzen. Orientierung für Freitag: Format (Parcours, Science Fair, Bühne), Publikum, Foto-Einverständnisse.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Dank. Hinweis auf die Teilnahmebescheinigung: alle drei Sitzungen, Selbstlernmodule, Praxisauftrag. Das Moodle-Forum bleibt für den Austausch geöffnet.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HAL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73952"/>
            <a:ext cx="8229600" cy="274320"/>
          </a:xfrm>
          <a:prstGeom prst="rect">
            <a:avLst/>
          </a:prstGeom>
          <a:noFill/>
          <a:ln/>
        </p:spPr>
        <p:txBody>
          <a:bodyPr wrap="square" rtlCol="0" anchor="ctr"/>
          <a:lstStyle/>
          <a:p>
            <a:pPr indent="0" marL="0">
              <a:buNone/>
            </a:pPr>
            <a:r>
              <a:rPr lang="en-US" sz="1000" dirty="0">
                <a:solidFill>
                  <a:srgbClr val="5B6B73"/>
                </a:solidFill>
                <a:latin typeface="Calibri" pitchFamily="34" charset="0"/>
                <a:ea typeface="Calibri" pitchFamily="34" charset="-122"/>
                <a:cs typeface="Calibri" pitchFamily="34" charset="-120"/>
              </a:rPr>
              <a:t>Der mBot2 im Fachunterricht · Sitzung 3 · CC BY 4.0</a:t>
            </a:r>
            <a:endParaRPr lang="en-US" sz="1000" dirty="0"/>
          </a:p>
        </p:txBody>
      </p:sp>
      <p:sp>
        <p:nvSpPr>
          <p:cNvPr id="3" name="Text 1"/>
          <p:cNvSpPr/>
          <p:nvPr>
            <p:ph idx="101" type="title" hasCustomPrompt="1"/>
          </p:nvPr>
        </p:nvSpPr>
        <p:spPr>
          <a:xfrm>
            <a:off x="548640" y="320040"/>
            <a:ext cx="11094415" cy="777240"/>
          </a:xfrm>
          <a:prstGeom prst="rect">
            <a:avLst/>
          </a:prstGeom>
          <a:noFill/>
          <a:ln/>
        </p:spPr>
        <p:txBody>
          <a:bodyPr wrap="square" rtlCol="0"/>
          <a:lstStyle>
            <a:lvl1pPr indent="0" marL="0">
              <a:buNone/>
              <a:defRPr lang="en-US" sz="3200" b="1" dirty="0">
                <a:solidFill>
                  <a:srgbClr val="0B3C49"/>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UNKEL">
    <p:bg>
      <p:bgPr>
        <a:solidFill>
          <a:srgbClr val="0B3C49"/>
        </a:solidFill>
      </p:bgPr>
    </p:bg>
    <p:spTree>
      <p:nvGrpSpPr>
        <p:cNvPr id="1" name=""/>
        <p:cNvGrpSpPr/>
        <p:nvPr/>
      </p:nvGrpSpPr>
      <p:grpSpPr>
        <a:xfrm>
          <a:off x="0" y="0"/>
          <a:ext cx="0" cy="0"/>
          <a:chOff x="0" y="0"/>
          <a:chExt cx="0" cy="0"/>
        </a:xfrm>
      </p:grpSpPr>
      <p:sp>
        <p:nvSpPr>
          <p:cNvPr id="2" name="Text 0"/>
          <p:cNvSpPr txBox="1"/>
          <p:nvPr/>
        </p:nvSpPr>
        <p:spPr>
          <a:xfrm>
            <a:off x="548640" y="6473952"/>
            <a:ext cx="8229600" cy="274320"/>
          </a:xfrm>
          <a:prstGeom prst="rect">
            <a:avLst/>
          </a:prstGeom>
          <a:noFill/>
          <a:ln/>
        </p:spPr>
        <p:txBody>
          <a:bodyPr wrap="square" rtlCol="0" anchor="ctr"/>
          <a:lstStyle/>
          <a:p>
            <a:pPr indent="0" marL="0">
              <a:buNone/>
            </a:pPr>
            <a:r>
              <a:rPr lang="en-US" sz="1000" dirty="0">
                <a:solidFill>
                  <a:srgbClr val="9FC3C0"/>
                </a:solidFill>
                <a:latin typeface="Calibri" pitchFamily="34" charset="0"/>
                <a:ea typeface="Calibri" pitchFamily="34" charset="-122"/>
                <a:cs typeface="Calibri" pitchFamily="34" charset="-120"/>
              </a:rPr>
              <a:t>Der mBot2 im Fachunterricht · Sitzung 3 · CC BY 4.0</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188720"/>
            <a:ext cx="9144000" cy="457200"/>
          </a:xfrm>
          <a:prstGeom prst="rect">
            <a:avLst/>
          </a:prstGeom>
          <a:noFill/>
          <a:ln/>
        </p:spPr>
        <p:txBody>
          <a:bodyPr wrap="square" lIns="0" tIns="0" rIns="0" bIns="0" rtlCol="0" anchor="ctr"/>
          <a:lstStyle/>
          <a:p>
            <a:pPr indent="0" marL="0">
              <a:buNone/>
            </a:pPr>
            <a:r>
              <a:rPr lang="en-US" sz="1600" b="1" spc="200" kern="0" dirty="0">
                <a:solidFill>
                  <a:srgbClr val="F6B27A"/>
                </a:solidFill>
                <a:latin typeface="Calibri" pitchFamily="34" charset="0"/>
                <a:ea typeface="Calibri" pitchFamily="34" charset="-122"/>
                <a:cs typeface="Calibri" pitchFamily="34" charset="-120"/>
              </a:rPr>
              <a:t>FORTBILDUNGSREIHE · DER mBOT2 IM FACHUNTERRICHT</a:t>
            </a:r>
            <a:endParaRPr lang="en-US" sz="1600" dirty="0"/>
          </a:p>
        </p:txBody>
      </p:sp>
      <p:sp>
        <p:nvSpPr>
          <p:cNvPr id="3" name="Text 1"/>
          <p:cNvSpPr txBox="1"/>
          <p:nvPr/>
        </p:nvSpPr>
        <p:spPr>
          <a:xfrm>
            <a:off x="548640" y="1737360"/>
            <a:ext cx="10515600" cy="137160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Vom Roboter zum Unterricht</a:t>
            </a:r>
            <a:endParaRPr lang="en-US" sz="4400" dirty="0"/>
          </a:p>
        </p:txBody>
      </p:sp>
      <p:sp>
        <p:nvSpPr>
          <p:cNvPr id="4" name="Text 2"/>
          <p:cNvSpPr txBox="1"/>
          <p:nvPr/>
        </p:nvSpPr>
        <p:spPr>
          <a:xfrm>
            <a:off x="548640" y="3200400"/>
            <a:ext cx="10515600" cy="731520"/>
          </a:xfrm>
          <a:prstGeom prst="rect">
            <a:avLst/>
          </a:prstGeom>
          <a:noFill/>
          <a:ln/>
        </p:spPr>
        <p:txBody>
          <a:bodyPr wrap="square" lIns="0" tIns="0" rIns="0" bIns="0" rtlCol="0" anchor="ctr"/>
          <a:lstStyle/>
          <a:p>
            <a:pPr indent="0" marL="0">
              <a:buNone/>
            </a:pPr>
            <a:r>
              <a:rPr lang="en-US" sz="2200" dirty="0">
                <a:solidFill>
                  <a:srgbClr val="CFE5E3"/>
                </a:solidFill>
                <a:latin typeface="Calibri" pitchFamily="34" charset="0"/>
                <a:ea typeface="Calibri" pitchFamily="34" charset="-122"/>
                <a:cs typeface="Calibri" pitchFamily="34" charset="-120"/>
              </a:rPr>
              <a:t>Fachbezogene Erprobung und Planung einer Projektwoche</a:t>
            </a:r>
            <a:endParaRPr lang="en-US" sz="2200" dirty="0"/>
          </a:p>
        </p:txBody>
      </p:sp>
      <p:sp>
        <p:nvSpPr>
          <p:cNvPr id="5" name="Shape 3"/>
          <p:cNvSpPr/>
          <p:nvPr/>
        </p:nvSpPr>
        <p:spPr>
          <a:xfrm>
            <a:off x="548640" y="4389120"/>
            <a:ext cx="2514600" cy="548640"/>
          </a:xfrm>
          <a:prstGeom prst="roundRect">
            <a:avLst>
              <a:gd name="adj" fmla="val 50000"/>
            </a:avLst>
          </a:prstGeom>
          <a:solidFill>
            <a:srgbClr val="174F5E"/>
          </a:solidFill>
          <a:ln w="12700">
            <a:solidFill>
              <a:srgbClr val="2C6E7C"/>
            </a:solidFill>
            <a:prstDash val="solid"/>
          </a:ln>
        </p:spPr>
      </p:sp>
      <p:sp>
        <p:nvSpPr>
          <p:cNvPr id="6" name="Text 4"/>
          <p:cNvSpPr txBox="1"/>
          <p:nvPr/>
        </p:nvSpPr>
        <p:spPr>
          <a:xfrm>
            <a:off x="548640" y="4389120"/>
            <a:ext cx="2514600" cy="548640"/>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Sitzung 3 von 3</a:t>
            </a:r>
            <a:endParaRPr lang="en-US" sz="1400" dirty="0"/>
          </a:p>
        </p:txBody>
      </p:sp>
      <p:sp>
        <p:nvSpPr>
          <p:cNvPr id="7" name="Shape 5"/>
          <p:cNvSpPr/>
          <p:nvPr/>
        </p:nvSpPr>
        <p:spPr>
          <a:xfrm>
            <a:off x="3246120" y="4389120"/>
            <a:ext cx="2514600" cy="548640"/>
          </a:xfrm>
          <a:prstGeom prst="roundRect">
            <a:avLst>
              <a:gd name="adj" fmla="val 50000"/>
            </a:avLst>
          </a:prstGeom>
          <a:solidFill>
            <a:srgbClr val="174F5E"/>
          </a:solidFill>
          <a:ln w="12700">
            <a:solidFill>
              <a:srgbClr val="2C6E7C"/>
            </a:solidFill>
            <a:prstDash val="solid"/>
          </a:ln>
        </p:spPr>
      </p:sp>
      <p:sp>
        <p:nvSpPr>
          <p:cNvPr id="8" name="Text 6"/>
          <p:cNvSpPr txBox="1"/>
          <p:nvPr/>
        </p:nvSpPr>
        <p:spPr>
          <a:xfrm>
            <a:off x="3246120" y="4389120"/>
            <a:ext cx="2514600" cy="548640"/>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90 Minuten</a:t>
            </a:r>
            <a:endParaRPr lang="en-US" sz="1400" dirty="0"/>
          </a:p>
        </p:txBody>
      </p:sp>
      <p:sp>
        <p:nvSpPr>
          <p:cNvPr id="9" name="Shape 7"/>
          <p:cNvSpPr/>
          <p:nvPr/>
        </p:nvSpPr>
        <p:spPr>
          <a:xfrm>
            <a:off x="5943600" y="4389120"/>
            <a:ext cx="2514600" cy="548640"/>
          </a:xfrm>
          <a:prstGeom prst="roundRect">
            <a:avLst>
              <a:gd name="adj" fmla="val 50000"/>
            </a:avLst>
          </a:prstGeom>
          <a:solidFill>
            <a:srgbClr val="174F5E"/>
          </a:solidFill>
          <a:ln w="12700">
            <a:solidFill>
              <a:srgbClr val="2C6E7C"/>
            </a:solidFill>
            <a:prstDash val="solid"/>
          </a:ln>
        </p:spPr>
      </p:sp>
      <p:sp>
        <p:nvSpPr>
          <p:cNvPr id="10" name="Text 8"/>
          <p:cNvSpPr txBox="1"/>
          <p:nvPr/>
        </p:nvSpPr>
        <p:spPr>
          <a:xfrm>
            <a:off x="5943600" y="4389120"/>
            <a:ext cx="2514600" cy="548640"/>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Klasse 7</a:t>
            </a:r>
            <a:endParaRPr lang="en-US" sz="1400" dirty="0"/>
          </a:p>
        </p:txBody>
      </p:sp>
      <p:sp>
        <p:nvSpPr>
          <p:cNvPr id="11" name="Shape 9"/>
          <p:cNvSpPr/>
          <p:nvPr/>
        </p:nvSpPr>
        <p:spPr>
          <a:xfrm>
            <a:off x="10180015" y="1188720"/>
            <a:ext cx="1463040" cy="1463040"/>
          </a:xfrm>
          <a:prstGeom prst="ellipse">
            <a:avLst/>
          </a:prstGeom>
          <a:solidFill>
            <a:srgbClr val="E8772E"/>
          </a:solidFill>
          <a:ln w="12700">
            <a:solidFill>
              <a:srgbClr val="E8772E"/>
            </a:solidFill>
            <a:prstDash val="solid"/>
          </a:ln>
        </p:spPr>
      </p:sp>
      <p:sp>
        <p:nvSpPr>
          <p:cNvPr id="12" name="Text 10"/>
          <p:cNvSpPr txBox="1"/>
          <p:nvPr/>
        </p:nvSpPr>
        <p:spPr>
          <a:xfrm>
            <a:off x="10180015" y="1188720"/>
            <a:ext cx="1463040" cy="1463040"/>
          </a:xfrm>
          <a:prstGeom prst="rect">
            <a:avLst/>
          </a:prstGeom>
          <a:noFill/>
          <a:ln/>
        </p:spPr>
        <p:txBody>
          <a:bodyPr wrap="square" lIns="0" tIns="0" rIns="0" bIns="0" rtlCol="0" anchor="ctr"/>
          <a:lstStyle/>
          <a:p>
            <a:pPr algn="ctr" indent="0" marL="0">
              <a:buNone/>
            </a:pPr>
            <a:r>
              <a:rPr lang="en-US" sz="5400" b="1" dirty="0">
                <a:solidFill>
                  <a:srgbClr val="FFFFFF"/>
                </a:solidFill>
                <a:latin typeface="Calibri" pitchFamily="34" charset="0"/>
                <a:ea typeface="Calibri" pitchFamily="34" charset="-122"/>
                <a:cs typeface="Calibri" pitchFamily="34" charset="-120"/>
              </a:rPr>
              <a:t>3</a:t>
            </a:r>
            <a:endParaRPr lang="en-US" sz="5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3C49"/>
                </a:solidFill>
                <a:latin typeface="Cambria" pitchFamily="34" charset="0"/>
                <a:ea typeface="Cambria" pitchFamily="34" charset="-122"/>
                <a:cs typeface="Cambria" pitchFamily="34" charset="-120"/>
              </a:rPr>
              <a:t>Was Sie schon können</a:t>
            </a:r>
            <a:endParaRPr lang="en-US" sz="3200" dirty="0"/>
          </a:p>
        </p:txBody>
      </p:sp>
      <p:sp>
        <p:nvSpPr>
          <p:cNvPr id="3" name="Text 1"/>
          <p:cNvSpPr txBox="1"/>
          <p:nvPr/>
        </p:nvSpPr>
        <p:spPr>
          <a:xfrm>
            <a:off x="548640" y="1234440"/>
            <a:ext cx="11094415" cy="640080"/>
          </a:xfrm>
          <a:prstGeom prst="rect">
            <a:avLst/>
          </a:prstGeom>
          <a:noFill/>
          <a:ln/>
        </p:spPr>
        <p:txBody>
          <a:bodyPr wrap="square" lIns="0" tIns="0" rIns="0" bIns="0" rtlCol="0" anchor="ctr"/>
          <a:lstStyle/>
          <a:p>
            <a:pPr indent="0" marL="0">
              <a:buNone/>
            </a:pPr>
            <a:r>
              <a:rPr lang="en-US" sz="1700" dirty="0">
                <a:solidFill>
                  <a:srgbClr val="5B6B73"/>
                </a:solidFill>
                <a:latin typeface="Calibri" pitchFamily="34" charset="0"/>
                <a:ea typeface="Calibri" pitchFamily="34" charset="-122"/>
                <a:cs typeface="Calibri" pitchFamily="34" charset="-120"/>
              </a:rPr>
              <a:t>Rückblick in einem Satz: Was können Sie jetzt, was Sie vor Sitzung 1 nicht konnten?</a:t>
            </a:r>
            <a:endParaRPr lang="en-US" sz="1700" dirty="0"/>
          </a:p>
        </p:txBody>
      </p:sp>
      <p:sp>
        <p:nvSpPr>
          <p:cNvPr id="4" name="Shape 2"/>
          <p:cNvSpPr/>
          <p:nvPr/>
        </p:nvSpPr>
        <p:spPr>
          <a:xfrm>
            <a:off x="548640" y="1965960"/>
            <a:ext cx="3484778" cy="3840480"/>
          </a:xfrm>
          <a:prstGeom prst="roundRect">
            <a:avLst>
              <a:gd name="adj" fmla="val 3149"/>
            </a:avLst>
          </a:prstGeom>
          <a:solidFill>
            <a:srgbClr val="E6F2F1"/>
          </a:solidFill>
          <a:ln w="12700">
            <a:solidFill>
              <a:srgbClr val="E6F2F1"/>
            </a:solidFill>
            <a:prstDash val="solid"/>
          </a:ln>
        </p:spPr>
      </p:sp>
      <p:sp>
        <p:nvSpPr>
          <p:cNvPr id="5" name="Shape 3"/>
          <p:cNvSpPr/>
          <p:nvPr/>
        </p:nvSpPr>
        <p:spPr>
          <a:xfrm>
            <a:off x="777240" y="2194560"/>
            <a:ext cx="548640" cy="548640"/>
          </a:xfrm>
          <a:prstGeom prst="ellipse">
            <a:avLst/>
          </a:prstGeom>
          <a:solidFill>
            <a:srgbClr val="0B6E69"/>
          </a:solidFill>
          <a:ln w="12700">
            <a:solidFill>
              <a:srgbClr val="0B6E69"/>
            </a:solidFill>
            <a:prstDash val="solid"/>
          </a:ln>
        </p:spPr>
      </p:sp>
      <p:sp>
        <p:nvSpPr>
          <p:cNvPr id="6" name="Text 4"/>
          <p:cNvSpPr txBox="1"/>
          <p:nvPr/>
        </p:nvSpPr>
        <p:spPr>
          <a:xfrm>
            <a:off x="777240" y="21945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463040" y="2194560"/>
            <a:ext cx="2387498" cy="548640"/>
          </a:xfrm>
          <a:prstGeom prst="rect">
            <a:avLst/>
          </a:prstGeom>
          <a:noFill/>
          <a:ln/>
        </p:spPr>
        <p:txBody>
          <a:bodyPr wrap="square" lIns="0" tIns="0" rIns="0" bIns="0" rtlCol="0" anchor="ctr"/>
          <a:lstStyle/>
          <a:p>
            <a:pPr indent="0" marL="0">
              <a:buNone/>
            </a:pPr>
            <a:r>
              <a:rPr lang="en-US" sz="1800" b="1" dirty="0">
                <a:solidFill>
                  <a:srgbClr val="0B3C49"/>
                </a:solidFill>
                <a:latin typeface="Calibri" pitchFamily="34" charset="0"/>
                <a:ea typeface="Calibri" pitchFamily="34" charset="-122"/>
                <a:cs typeface="Calibri" pitchFamily="34" charset="-120"/>
              </a:rPr>
              <a:t>Sitzung 1</a:t>
            </a:r>
            <a:endParaRPr lang="en-US" sz="1800" dirty="0"/>
          </a:p>
        </p:txBody>
      </p:sp>
      <p:sp>
        <p:nvSpPr>
          <p:cNvPr id="8" name="Text 6"/>
          <p:cNvSpPr txBox="1"/>
          <p:nvPr/>
        </p:nvSpPr>
        <p:spPr>
          <a:xfrm>
            <a:off x="822960" y="2880360"/>
            <a:ext cx="2936138" cy="2743200"/>
          </a:xfrm>
          <a:prstGeom prst="rect">
            <a:avLst/>
          </a:prstGeom>
          <a:noFill/>
          <a:ln/>
        </p:spPr>
        <p:txBody>
          <a:bodyPr wrap="square" lIns="0" tIns="0" rIns="0" bIns="0" rtlCol="0" anchor="t"/>
          <a:lstStyle/>
          <a:p>
            <a:pPr marL="177800" indent="-177800">
              <a:spcAft>
                <a:spcPts val="600"/>
              </a:spcAft>
              <a:buSzPct val="100000"/>
              <a:buChar char="•"/>
            </a:pPr>
            <a:r>
              <a:rPr lang="en-US" sz="1700" dirty="0">
                <a:solidFill>
                  <a:srgbClr val="1F2A30"/>
                </a:solidFill>
                <a:latin typeface="Calibri" pitchFamily="34" charset="0"/>
                <a:ea typeface="Calibri" pitchFamily="34" charset="-122"/>
                <a:cs typeface="Calibri" pitchFamily="34" charset="-120"/>
              </a:rPr>
              <a:t>mBot2 aufgebaut</a:t>
            </a:r>
            <a:endParaRPr lang="en-US" sz="1700" dirty="0"/>
          </a:p>
          <a:p>
            <a:pPr marL="177800" indent="-177800">
              <a:spcAft>
                <a:spcPts val="600"/>
              </a:spcAft>
              <a:buSzPct val="100000"/>
              <a:buChar char="•"/>
            </a:pPr>
            <a:r>
              <a:rPr lang="en-US" sz="1700" dirty="0">
                <a:solidFill>
                  <a:srgbClr val="1F2A30"/>
                </a:solidFill>
                <a:latin typeface="Calibri" pitchFamily="34" charset="0"/>
                <a:ea typeface="Calibri" pitchFamily="34" charset="-122"/>
                <a:cs typeface="Calibri" pitchFamily="34" charset="-120"/>
              </a:rPr>
              <a:t>EVA-Prinzip erklärt</a:t>
            </a:r>
            <a:endParaRPr lang="en-US" sz="1700" dirty="0"/>
          </a:p>
          <a:p>
            <a:pPr marL="177800" indent="-177800">
              <a:spcAft>
                <a:spcPts val="600"/>
              </a:spcAft>
              <a:buSzPct val="100000"/>
              <a:buChar char="•"/>
            </a:pPr>
            <a:r>
              <a:rPr lang="en-US" sz="1700" dirty="0">
                <a:solidFill>
                  <a:srgbClr val="1F2A30"/>
                </a:solidFill>
                <a:latin typeface="Calibri" pitchFamily="34" charset="0"/>
                <a:ea typeface="Calibri" pitchFamily="34" charset="-122"/>
                <a:cs typeface="Calibri" pitchFamily="34" charset="-120"/>
              </a:rPr>
              <a:t>mit Open Roberta verbunden</a:t>
            </a:r>
            <a:endParaRPr lang="en-US" sz="1700" dirty="0"/>
          </a:p>
        </p:txBody>
      </p:sp>
      <p:sp>
        <p:nvSpPr>
          <p:cNvPr id="9" name="Shape 7"/>
          <p:cNvSpPr/>
          <p:nvPr/>
        </p:nvSpPr>
        <p:spPr>
          <a:xfrm>
            <a:off x="4353458" y="1965960"/>
            <a:ext cx="3484778" cy="3840480"/>
          </a:xfrm>
          <a:prstGeom prst="roundRect">
            <a:avLst>
              <a:gd name="adj" fmla="val 3149"/>
            </a:avLst>
          </a:prstGeom>
          <a:solidFill>
            <a:srgbClr val="E6F2F1"/>
          </a:solidFill>
          <a:ln w="12700">
            <a:solidFill>
              <a:srgbClr val="E6F2F1"/>
            </a:solidFill>
            <a:prstDash val="solid"/>
          </a:ln>
        </p:spPr>
      </p:sp>
      <p:sp>
        <p:nvSpPr>
          <p:cNvPr id="10" name="Shape 8"/>
          <p:cNvSpPr/>
          <p:nvPr/>
        </p:nvSpPr>
        <p:spPr>
          <a:xfrm>
            <a:off x="4582058" y="2194560"/>
            <a:ext cx="548640" cy="548640"/>
          </a:xfrm>
          <a:prstGeom prst="ellipse">
            <a:avLst/>
          </a:prstGeom>
          <a:solidFill>
            <a:srgbClr val="0B6E69"/>
          </a:solidFill>
          <a:ln w="12700">
            <a:solidFill>
              <a:srgbClr val="0B6E69"/>
            </a:solidFill>
            <a:prstDash val="solid"/>
          </a:ln>
        </p:spPr>
      </p:sp>
      <p:sp>
        <p:nvSpPr>
          <p:cNvPr id="11" name="Text 9"/>
          <p:cNvSpPr txBox="1"/>
          <p:nvPr/>
        </p:nvSpPr>
        <p:spPr>
          <a:xfrm>
            <a:off x="4582058" y="21945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5267858" y="2194560"/>
            <a:ext cx="2387498" cy="548640"/>
          </a:xfrm>
          <a:prstGeom prst="rect">
            <a:avLst/>
          </a:prstGeom>
          <a:noFill/>
          <a:ln/>
        </p:spPr>
        <p:txBody>
          <a:bodyPr wrap="square" lIns="0" tIns="0" rIns="0" bIns="0" rtlCol="0" anchor="ctr"/>
          <a:lstStyle/>
          <a:p>
            <a:pPr indent="0" marL="0">
              <a:buNone/>
            </a:pPr>
            <a:r>
              <a:rPr lang="en-US" sz="1800" b="1" dirty="0">
                <a:solidFill>
                  <a:srgbClr val="0B3C49"/>
                </a:solidFill>
                <a:latin typeface="Calibri" pitchFamily="34" charset="0"/>
                <a:ea typeface="Calibri" pitchFamily="34" charset="-122"/>
                <a:cs typeface="Calibri" pitchFamily="34" charset="-120"/>
              </a:rPr>
              <a:t>Sitzung 2</a:t>
            </a:r>
            <a:endParaRPr lang="en-US" sz="1800" dirty="0"/>
          </a:p>
        </p:txBody>
      </p:sp>
      <p:sp>
        <p:nvSpPr>
          <p:cNvPr id="13" name="Text 11"/>
          <p:cNvSpPr txBox="1"/>
          <p:nvPr/>
        </p:nvSpPr>
        <p:spPr>
          <a:xfrm>
            <a:off x="4627778" y="2880360"/>
            <a:ext cx="2936138" cy="2743200"/>
          </a:xfrm>
          <a:prstGeom prst="rect">
            <a:avLst/>
          </a:prstGeom>
          <a:noFill/>
          <a:ln/>
        </p:spPr>
        <p:txBody>
          <a:bodyPr wrap="square" lIns="0" tIns="0" rIns="0" bIns="0" rtlCol="0" anchor="t"/>
          <a:lstStyle/>
          <a:p>
            <a:pPr marL="177800" indent="-177800">
              <a:spcAft>
                <a:spcPts val="600"/>
              </a:spcAft>
              <a:buSzPct val="100000"/>
              <a:buChar char="•"/>
            </a:pPr>
            <a:r>
              <a:rPr lang="en-US" sz="1700" dirty="0">
                <a:solidFill>
                  <a:srgbClr val="1F2A30"/>
                </a:solidFill>
                <a:latin typeface="Calibri" pitchFamily="34" charset="0"/>
                <a:ea typeface="Calibri" pitchFamily="34" charset="-122"/>
                <a:cs typeface="Calibri" pitchFamily="34" charset="-120"/>
              </a:rPr>
              <a:t>Schleifen und Bedingungen</a:t>
            </a:r>
            <a:endParaRPr lang="en-US" sz="1700" dirty="0"/>
          </a:p>
          <a:p>
            <a:pPr marL="177800" indent="-177800">
              <a:spcAft>
                <a:spcPts val="600"/>
              </a:spcAft>
              <a:buSzPct val="100000"/>
              <a:buChar char="•"/>
            </a:pPr>
            <a:r>
              <a:rPr lang="en-US" sz="1700" dirty="0">
                <a:solidFill>
                  <a:srgbClr val="1F2A30"/>
                </a:solidFill>
                <a:latin typeface="Calibri" pitchFamily="34" charset="0"/>
                <a:ea typeface="Calibri" pitchFamily="34" charset="-122"/>
                <a:cs typeface="Calibri" pitchFamily="34" charset="-120"/>
              </a:rPr>
              <a:t>Schwellenwerte gemessen</a:t>
            </a:r>
            <a:endParaRPr lang="en-US" sz="1700" dirty="0"/>
          </a:p>
          <a:p>
            <a:pPr marL="177800" indent="-177800">
              <a:spcAft>
                <a:spcPts val="600"/>
              </a:spcAft>
              <a:buSzPct val="100000"/>
              <a:buChar char="•"/>
            </a:pPr>
            <a:r>
              <a:rPr lang="en-US" sz="1700" dirty="0">
                <a:solidFill>
                  <a:srgbClr val="1F2A30"/>
                </a:solidFill>
                <a:latin typeface="Calibri" pitchFamily="34" charset="0"/>
                <a:ea typeface="Calibri" pitchFamily="34" charset="-122"/>
                <a:cs typeface="Calibri" pitchFamily="34" charset="-120"/>
              </a:rPr>
              <a:t>Fehler systematisch gesucht</a:t>
            </a:r>
            <a:endParaRPr lang="en-US" sz="1700" dirty="0"/>
          </a:p>
        </p:txBody>
      </p:sp>
      <p:sp>
        <p:nvSpPr>
          <p:cNvPr id="14" name="Shape 12"/>
          <p:cNvSpPr/>
          <p:nvPr/>
        </p:nvSpPr>
        <p:spPr>
          <a:xfrm>
            <a:off x="8158277" y="1965960"/>
            <a:ext cx="3484778" cy="3840480"/>
          </a:xfrm>
          <a:prstGeom prst="roundRect">
            <a:avLst>
              <a:gd name="adj" fmla="val 3149"/>
            </a:avLst>
          </a:prstGeom>
          <a:solidFill>
            <a:srgbClr val="FCEBDD"/>
          </a:solidFill>
          <a:ln w="12700">
            <a:solidFill>
              <a:srgbClr val="FCEBDD"/>
            </a:solidFill>
            <a:prstDash val="solid"/>
          </a:ln>
        </p:spPr>
      </p:sp>
      <p:sp>
        <p:nvSpPr>
          <p:cNvPr id="15" name="Shape 13"/>
          <p:cNvSpPr/>
          <p:nvPr/>
        </p:nvSpPr>
        <p:spPr>
          <a:xfrm>
            <a:off x="8386877" y="2194560"/>
            <a:ext cx="548640" cy="548640"/>
          </a:xfrm>
          <a:prstGeom prst="ellipse">
            <a:avLst/>
          </a:prstGeom>
          <a:solidFill>
            <a:srgbClr val="E8772E"/>
          </a:solidFill>
          <a:ln w="12700">
            <a:solidFill>
              <a:srgbClr val="E8772E"/>
            </a:solidFill>
            <a:prstDash val="solid"/>
          </a:ln>
        </p:spPr>
      </p:sp>
      <p:sp>
        <p:nvSpPr>
          <p:cNvPr id="16" name="Text 14"/>
          <p:cNvSpPr txBox="1"/>
          <p:nvPr/>
        </p:nvSpPr>
        <p:spPr>
          <a:xfrm>
            <a:off x="8386877" y="21945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txBox="1"/>
          <p:nvPr/>
        </p:nvSpPr>
        <p:spPr>
          <a:xfrm>
            <a:off x="9072677" y="2194560"/>
            <a:ext cx="2387498" cy="548640"/>
          </a:xfrm>
          <a:prstGeom prst="rect">
            <a:avLst/>
          </a:prstGeom>
          <a:noFill/>
          <a:ln/>
        </p:spPr>
        <p:txBody>
          <a:bodyPr wrap="square" lIns="0" tIns="0" rIns="0" bIns="0" rtlCol="0" anchor="ctr"/>
          <a:lstStyle/>
          <a:p>
            <a:pPr indent="0" marL="0">
              <a:buNone/>
            </a:pPr>
            <a:r>
              <a:rPr lang="en-US" sz="1800" b="1" dirty="0">
                <a:solidFill>
                  <a:srgbClr val="0B3C49"/>
                </a:solidFill>
                <a:latin typeface="Calibri" pitchFamily="34" charset="0"/>
                <a:ea typeface="Calibri" pitchFamily="34" charset="-122"/>
                <a:cs typeface="Calibri" pitchFamily="34" charset="-120"/>
              </a:rPr>
              <a:t>Heute</a:t>
            </a:r>
            <a:endParaRPr lang="en-US" sz="1800" dirty="0"/>
          </a:p>
        </p:txBody>
      </p:sp>
      <p:sp>
        <p:nvSpPr>
          <p:cNvPr id="18" name="Text 16"/>
          <p:cNvSpPr txBox="1"/>
          <p:nvPr/>
        </p:nvSpPr>
        <p:spPr>
          <a:xfrm>
            <a:off x="8432597" y="2880360"/>
            <a:ext cx="2936138" cy="2743200"/>
          </a:xfrm>
          <a:prstGeom prst="rect">
            <a:avLst/>
          </a:prstGeom>
          <a:noFill/>
          <a:ln/>
        </p:spPr>
        <p:txBody>
          <a:bodyPr wrap="square" lIns="0" tIns="0" rIns="0" bIns="0" rtlCol="0" anchor="t"/>
          <a:lstStyle/>
          <a:p>
            <a:pPr marL="177800" indent="-177800">
              <a:spcAft>
                <a:spcPts val="600"/>
              </a:spcAft>
              <a:buSzPct val="100000"/>
              <a:buChar char="•"/>
            </a:pPr>
            <a:r>
              <a:rPr lang="en-US" sz="1700" dirty="0">
                <a:solidFill>
                  <a:srgbClr val="1F2A30"/>
                </a:solidFill>
                <a:latin typeface="Calibri" pitchFamily="34" charset="0"/>
                <a:ea typeface="Calibri" pitchFamily="34" charset="-122"/>
                <a:cs typeface="Calibri" pitchFamily="34" charset="-120"/>
              </a:rPr>
              <a:t>Aufgabe für Klasse 7 erproben</a:t>
            </a:r>
            <a:endParaRPr lang="en-US" sz="1700" dirty="0"/>
          </a:p>
          <a:p>
            <a:pPr marL="177800" indent="-177800">
              <a:spcAft>
                <a:spcPts val="600"/>
              </a:spcAft>
              <a:buSzPct val="100000"/>
              <a:buChar char="•"/>
            </a:pPr>
            <a:r>
              <a:rPr lang="en-US" sz="1700" dirty="0">
                <a:solidFill>
                  <a:srgbClr val="1F2A30"/>
                </a:solidFill>
                <a:latin typeface="Calibri" pitchFamily="34" charset="0"/>
                <a:ea typeface="Calibri" pitchFamily="34" charset="-122"/>
                <a:cs typeface="Calibri" pitchFamily="34" charset="-120"/>
              </a:rPr>
              <a:t>Tagesplan entwickeln</a:t>
            </a:r>
            <a:endParaRPr lang="en-US" sz="1700" dirty="0"/>
          </a:p>
          <a:p>
            <a:pPr marL="177800" indent="-177800">
              <a:spcAft>
                <a:spcPts val="600"/>
              </a:spcAft>
              <a:buSzPct val="100000"/>
              <a:buChar char="•"/>
            </a:pPr>
            <a:r>
              <a:rPr lang="en-US" sz="1700" dirty="0">
                <a:solidFill>
                  <a:srgbClr val="1F2A30"/>
                </a:solidFill>
                <a:latin typeface="Calibri" pitchFamily="34" charset="0"/>
                <a:ea typeface="Calibri" pitchFamily="34" charset="-122"/>
                <a:cs typeface="Calibri" pitchFamily="34" charset="-120"/>
              </a:rPr>
              <a:t>Übergaben abstimmen</a:t>
            </a:r>
            <a:endParaRPr lang="en-US" sz="17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3C49"/>
                </a:solidFill>
                <a:latin typeface="Cambria" pitchFamily="34" charset="0"/>
                <a:ea typeface="Cambria" pitchFamily="34" charset="-122"/>
                <a:cs typeface="Cambria" pitchFamily="34" charset="-120"/>
              </a:rPr>
              <a:t>Erst selbst ausprobieren – dann planen</a:t>
            </a:r>
            <a:endParaRPr lang="en-US" sz="3200" dirty="0"/>
          </a:p>
        </p:txBody>
      </p:sp>
      <p:sp>
        <p:nvSpPr>
          <p:cNvPr id="3" name="Shape 1"/>
          <p:cNvSpPr/>
          <p:nvPr/>
        </p:nvSpPr>
        <p:spPr>
          <a:xfrm>
            <a:off x="548640" y="1325880"/>
            <a:ext cx="2533574" cy="4480560"/>
          </a:xfrm>
          <a:prstGeom prst="roundRect">
            <a:avLst>
              <a:gd name="adj" fmla="val 4331"/>
            </a:avLst>
          </a:prstGeom>
          <a:solidFill>
            <a:srgbClr val="E6F2F1"/>
          </a:solidFill>
          <a:ln w="12700">
            <a:solidFill>
              <a:srgbClr val="E6F2F1"/>
            </a:solidFill>
            <a:prstDash val="solid"/>
          </a:ln>
        </p:spPr>
      </p:sp>
      <p:sp>
        <p:nvSpPr>
          <p:cNvPr id="4" name="Shape 2"/>
          <p:cNvSpPr/>
          <p:nvPr/>
        </p:nvSpPr>
        <p:spPr>
          <a:xfrm>
            <a:off x="777240" y="1554480"/>
            <a:ext cx="548640" cy="548640"/>
          </a:xfrm>
          <a:prstGeom prst="ellipse">
            <a:avLst/>
          </a:prstGeom>
          <a:solidFill>
            <a:srgbClr val="0B6E69"/>
          </a:solidFill>
          <a:ln w="12700">
            <a:solidFill>
              <a:srgbClr val="0B6E69"/>
            </a:solidFill>
            <a:prstDash val="solid"/>
          </a:ln>
        </p:spPr>
      </p:sp>
      <p:sp>
        <p:nvSpPr>
          <p:cNvPr id="5" name="Text 3"/>
          <p:cNvSpPr txBox="1"/>
          <p:nvPr/>
        </p:nvSpPr>
        <p:spPr>
          <a:xfrm>
            <a:off x="777240" y="15544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463040" y="1554480"/>
            <a:ext cx="1436294" cy="548640"/>
          </a:xfrm>
          <a:prstGeom prst="rect">
            <a:avLst/>
          </a:prstGeom>
          <a:noFill/>
          <a:ln/>
        </p:spPr>
        <p:txBody>
          <a:bodyPr wrap="square" lIns="0" tIns="0" rIns="0" bIns="0" rtlCol="0" anchor="ctr"/>
          <a:lstStyle/>
          <a:p>
            <a:pPr indent="0" marL="0">
              <a:buNone/>
            </a:pPr>
            <a:r>
              <a:rPr lang="en-US" sz="1800" b="1" dirty="0">
                <a:solidFill>
                  <a:srgbClr val="0B3C49"/>
                </a:solidFill>
                <a:latin typeface="Calibri" pitchFamily="34" charset="0"/>
                <a:ea typeface="Calibri" pitchFamily="34" charset="-122"/>
                <a:cs typeface="Calibri" pitchFamily="34" charset="-120"/>
              </a:rPr>
              <a:t>Erleben vor Erklären</a:t>
            </a:r>
            <a:endParaRPr lang="en-US" sz="1800" dirty="0"/>
          </a:p>
        </p:txBody>
      </p:sp>
      <p:sp>
        <p:nvSpPr>
          <p:cNvPr id="7" name="Text 5"/>
          <p:cNvSpPr txBox="1"/>
          <p:nvPr/>
        </p:nvSpPr>
        <p:spPr>
          <a:xfrm>
            <a:off x="822960" y="2240280"/>
            <a:ext cx="1984934" cy="3383280"/>
          </a:xfrm>
          <a:prstGeom prst="rect">
            <a:avLst/>
          </a:prstGeom>
          <a:noFill/>
          <a:ln/>
        </p:spPr>
        <p:txBody>
          <a:bodyPr wrap="square" lIns="0" tIns="0" rIns="0" bIns="0" rtlCol="0" anchor="t"/>
          <a:lstStyle/>
          <a:p>
            <a:pPr indent="0" marL="0">
              <a:buNone/>
            </a:pPr>
            <a:r>
              <a:rPr lang="en-US" sz="1600" dirty="0">
                <a:solidFill>
                  <a:srgbClr val="1F2A30"/>
                </a:solidFill>
                <a:latin typeface="Calibri" pitchFamily="34" charset="0"/>
                <a:ea typeface="Calibri" pitchFamily="34" charset="-122"/>
                <a:cs typeface="Calibri" pitchFamily="34" charset="-120"/>
              </a:rPr>
              <a:t>Sie lösen die Aufgabe, die später Ihre Schülerinnen und Schüler lösen.</a:t>
            </a:r>
            <a:endParaRPr lang="en-US" sz="1600" dirty="0"/>
          </a:p>
        </p:txBody>
      </p:sp>
      <p:sp>
        <p:nvSpPr>
          <p:cNvPr id="8" name="Shape 6"/>
          <p:cNvSpPr/>
          <p:nvPr/>
        </p:nvSpPr>
        <p:spPr>
          <a:xfrm>
            <a:off x="3402254" y="1325880"/>
            <a:ext cx="2533574" cy="4480560"/>
          </a:xfrm>
          <a:prstGeom prst="roundRect">
            <a:avLst>
              <a:gd name="adj" fmla="val 4331"/>
            </a:avLst>
          </a:prstGeom>
          <a:solidFill>
            <a:srgbClr val="E6F2F1"/>
          </a:solidFill>
          <a:ln w="12700">
            <a:solidFill>
              <a:srgbClr val="E6F2F1"/>
            </a:solidFill>
            <a:prstDash val="solid"/>
          </a:ln>
        </p:spPr>
      </p:sp>
      <p:sp>
        <p:nvSpPr>
          <p:cNvPr id="9" name="Shape 7"/>
          <p:cNvSpPr/>
          <p:nvPr/>
        </p:nvSpPr>
        <p:spPr>
          <a:xfrm>
            <a:off x="3630854" y="1554480"/>
            <a:ext cx="548640" cy="548640"/>
          </a:xfrm>
          <a:prstGeom prst="ellipse">
            <a:avLst/>
          </a:prstGeom>
          <a:solidFill>
            <a:srgbClr val="0B6E69"/>
          </a:solidFill>
          <a:ln w="12700">
            <a:solidFill>
              <a:srgbClr val="0B6E69"/>
            </a:solidFill>
            <a:prstDash val="solid"/>
          </a:ln>
        </p:spPr>
      </p:sp>
      <p:sp>
        <p:nvSpPr>
          <p:cNvPr id="10" name="Text 8"/>
          <p:cNvSpPr txBox="1"/>
          <p:nvPr/>
        </p:nvSpPr>
        <p:spPr>
          <a:xfrm>
            <a:off x="3630854" y="15544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Text 9"/>
          <p:cNvSpPr txBox="1"/>
          <p:nvPr/>
        </p:nvSpPr>
        <p:spPr>
          <a:xfrm>
            <a:off x="4316654" y="1554480"/>
            <a:ext cx="1436294" cy="548640"/>
          </a:xfrm>
          <a:prstGeom prst="rect">
            <a:avLst/>
          </a:prstGeom>
          <a:noFill/>
          <a:ln/>
        </p:spPr>
        <p:txBody>
          <a:bodyPr wrap="square" lIns="0" tIns="0" rIns="0" bIns="0" rtlCol="0" anchor="ctr"/>
          <a:lstStyle/>
          <a:p>
            <a:pPr indent="0" marL="0">
              <a:buNone/>
            </a:pPr>
            <a:r>
              <a:rPr lang="en-US" sz="1800" b="1" dirty="0">
                <a:solidFill>
                  <a:srgbClr val="0B3C49"/>
                </a:solidFill>
                <a:latin typeface="Calibri" pitchFamily="34" charset="0"/>
                <a:ea typeface="Calibri" pitchFamily="34" charset="-122"/>
                <a:cs typeface="Calibri" pitchFamily="34" charset="-120"/>
              </a:rPr>
              <a:t>Erfahrung → Planung</a:t>
            </a:r>
            <a:endParaRPr lang="en-US" sz="1800" dirty="0"/>
          </a:p>
        </p:txBody>
      </p:sp>
      <p:sp>
        <p:nvSpPr>
          <p:cNvPr id="12" name="Text 10"/>
          <p:cNvSpPr txBox="1"/>
          <p:nvPr/>
        </p:nvSpPr>
        <p:spPr>
          <a:xfrm>
            <a:off x="3676574" y="2240280"/>
            <a:ext cx="1984934" cy="3383280"/>
          </a:xfrm>
          <a:prstGeom prst="rect">
            <a:avLst/>
          </a:prstGeom>
          <a:noFill/>
          <a:ln/>
        </p:spPr>
        <p:txBody>
          <a:bodyPr wrap="square" lIns="0" tIns="0" rIns="0" bIns="0" rtlCol="0" anchor="t"/>
          <a:lstStyle/>
          <a:p>
            <a:pPr indent="0" marL="0">
              <a:buNone/>
            </a:pPr>
            <a:r>
              <a:rPr lang="en-US" sz="1600" dirty="0">
                <a:solidFill>
                  <a:srgbClr val="1F2A30"/>
                </a:solidFill>
                <a:latin typeface="Calibri" pitchFamily="34" charset="0"/>
                <a:ea typeface="Calibri" pitchFamily="34" charset="-122"/>
                <a:cs typeface="Calibri" pitchFamily="34" charset="-120"/>
              </a:rPr>
              <a:t>Zeitbedarf, Stolperstellen und Aha-Momente fließen direkt in den Tagesplan.</a:t>
            </a:r>
            <a:endParaRPr lang="en-US" sz="1600" dirty="0"/>
          </a:p>
        </p:txBody>
      </p:sp>
      <p:sp>
        <p:nvSpPr>
          <p:cNvPr id="13" name="Shape 11"/>
          <p:cNvSpPr/>
          <p:nvPr/>
        </p:nvSpPr>
        <p:spPr>
          <a:xfrm>
            <a:off x="6255868" y="1325880"/>
            <a:ext cx="2533574" cy="4480560"/>
          </a:xfrm>
          <a:prstGeom prst="roundRect">
            <a:avLst>
              <a:gd name="adj" fmla="val 4331"/>
            </a:avLst>
          </a:prstGeom>
          <a:solidFill>
            <a:srgbClr val="E6F2F1"/>
          </a:solidFill>
          <a:ln w="12700">
            <a:solidFill>
              <a:srgbClr val="E6F2F1"/>
            </a:solidFill>
            <a:prstDash val="solid"/>
          </a:ln>
        </p:spPr>
      </p:sp>
      <p:sp>
        <p:nvSpPr>
          <p:cNvPr id="14" name="Shape 12"/>
          <p:cNvSpPr/>
          <p:nvPr/>
        </p:nvSpPr>
        <p:spPr>
          <a:xfrm>
            <a:off x="6484468" y="1554480"/>
            <a:ext cx="548640" cy="548640"/>
          </a:xfrm>
          <a:prstGeom prst="ellipse">
            <a:avLst/>
          </a:prstGeom>
          <a:solidFill>
            <a:srgbClr val="0B6E69"/>
          </a:solidFill>
          <a:ln w="12700">
            <a:solidFill>
              <a:srgbClr val="0B6E69"/>
            </a:solidFill>
            <a:prstDash val="solid"/>
          </a:ln>
        </p:spPr>
      </p:sp>
      <p:sp>
        <p:nvSpPr>
          <p:cNvPr id="15" name="Text 13"/>
          <p:cNvSpPr txBox="1"/>
          <p:nvPr/>
        </p:nvSpPr>
        <p:spPr>
          <a:xfrm>
            <a:off x="6484468" y="15544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7170268" y="1554480"/>
            <a:ext cx="1436294" cy="548640"/>
          </a:xfrm>
          <a:prstGeom prst="rect">
            <a:avLst/>
          </a:prstGeom>
          <a:noFill/>
          <a:ln/>
        </p:spPr>
        <p:txBody>
          <a:bodyPr wrap="square" lIns="0" tIns="0" rIns="0" bIns="0" rtlCol="0" anchor="ctr"/>
          <a:lstStyle/>
          <a:p>
            <a:pPr indent="0" marL="0">
              <a:buNone/>
            </a:pPr>
            <a:r>
              <a:rPr lang="en-US" sz="1800" b="1" dirty="0">
                <a:solidFill>
                  <a:srgbClr val="0B3C49"/>
                </a:solidFill>
                <a:latin typeface="Calibri" pitchFamily="34" charset="0"/>
                <a:ea typeface="Calibri" pitchFamily="34" charset="-122"/>
                <a:cs typeface="Calibri" pitchFamily="34" charset="-120"/>
              </a:rPr>
              <a:t>Realistische Zeiten</a:t>
            </a:r>
            <a:endParaRPr lang="en-US" sz="1800" dirty="0"/>
          </a:p>
        </p:txBody>
      </p:sp>
      <p:sp>
        <p:nvSpPr>
          <p:cNvPr id="17" name="Text 15"/>
          <p:cNvSpPr txBox="1"/>
          <p:nvPr/>
        </p:nvSpPr>
        <p:spPr>
          <a:xfrm>
            <a:off x="6530188" y="2240280"/>
            <a:ext cx="1984934" cy="3383280"/>
          </a:xfrm>
          <a:prstGeom prst="rect">
            <a:avLst/>
          </a:prstGeom>
          <a:noFill/>
          <a:ln/>
        </p:spPr>
        <p:txBody>
          <a:bodyPr wrap="square" lIns="0" tIns="0" rIns="0" bIns="0" rtlCol="0" anchor="t"/>
          <a:lstStyle/>
          <a:p>
            <a:pPr indent="0" marL="0">
              <a:buNone/>
            </a:pPr>
            <a:r>
              <a:rPr lang="en-US" sz="1600" dirty="0">
                <a:solidFill>
                  <a:srgbClr val="1F2A30"/>
                </a:solidFill>
                <a:latin typeface="Calibri" pitchFamily="34" charset="0"/>
                <a:ea typeface="Calibri" pitchFamily="34" charset="-122"/>
                <a:cs typeface="Calibri" pitchFamily="34" charset="-120"/>
              </a:rPr>
              <a:t>Wer selbst gemessen und programmiert hat, schätzt den Zeitbedarf genauer.</a:t>
            </a:r>
            <a:endParaRPr lang="en-US" sz="1600" dirty="0"/>
          </a:p>
        </p:txBody>
      </p:sp>
      <p:sp>
        <p:nvSpPr>
          <p:cNvPr id="18" name="Shape 16"/>
          <p:cNvSpPr/>
          <p:nvPr/>
        </p:nvSpPr>
        <p:spPr>
          <a:xfrm>
            <a:off x="9109481" y="1325880"/>
            <a:ext cx="2533574" cy="4480560"/>
          </a:xfrm>
          <a:prstGeom prst="roundRect">
            <a:avLst>
              <a:gd name="adj" fmla="val 4331"/>
            </a:avLst>
          </a:prstGeom>
          <a:solidFill>
            <a:srgbClr val="E6F2F1"/>
          </a:solidFill>
          <a:ln w="12700">
            <a:solidFill>
              <a:srgbClr val="E6F2F1"/>
            </a:solidFill>
            <a:prstDash val="solid"/>
          </a:ln>
        </p:spPr>
      </p:sp>
      <p:sp>
        <p:nvSpPr>
          <p:cNvPr id="19" name="Shape 17"/>
          <p:cNvSpPr/>
          <p:nvPr/>
        </p:nvSpPr>
        <p:spPr>
          <a:xfrm>
            <a:off x="9338081" y="1554480"/>
            <a:ext cx="548640" cy="548640"/>
          </a:xfrm>
          <a:prstGeom prst="ellipse">
            <a:avLst/>
          </a:prstGeom>
          <a:solidFill>
            <a:srgbClr val="0B6E69"/>
          </a:solidFill>
          <a:ln w="12700">
            <a:solidFill>
              <a:srgbClr val="0B6E69"/>
            </a:solidFill>
            <a:prstDash val="solid"/>
          </a:ln>
        </p:spPr>
      </p:sp>
      <p:sp>
        <p:nvSpPr>
          <p:cNvPr id="20" name="Text 18"/>
          <p:cNvSpPr txBox="1"/>
          <p:nvPr/>
        </p:nvSpPr>
        <p:spPr>
          <a:xfrm>
            <a:off x="9338081" y="15544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1" name="Text 19"/>
          <p:cNvSpPr txBox="1"/>
          <p:nvPr/>
        </p:nvSpPr>
        <p:spPr>
          <a:xfrm>
            <a:off x="10023881" y="1554480"/>
            <a:ext cx="1436294" cy="548640"/>
          </a:xfrm>
          <a:prstGeom prst="rect">
            <a:avLst/>
          </a:prstGeom>
          <a:noFill/>
          <a:ln/>
        </p:spPr>
        <p:txBody>
          <a:bodyPr wrap="square" lIns="0" tIns="0" rIns="0" bIns="0" rtlCol="0" anchor="ctr"/>
          <a:lstStyle/>
          <a:p>
            <a:pPr indent="0" marL="0">
              <a:buNone/>
            </a:pPr>
            <a:r>
              <a:rPr lang="en-US" sz="1800" b="1" dirty="0">
                <a:solidFill>
                  <a:srgbClr val="0B3C49"/>
                </a:solidFill>
                <a:latin typeface="Calibri" pitchFamily="34" charset="0"/>
                <a:ea typeface="Calibri" pitchFamily="34" charset="-122"/>
                <a:cs typeface="Calibri" pitchFamily="34" charset="-120"/>
              </a:rPr>
              <a:t>Ein roter Faden</a:t>
            </a:r>
            <a:endParaRPr lang="en-US" sz="1800" dirty="0"/>
          </a:p>
        </p:txBody>
      </p:sp>
      <p:sp>
        <p:nvSpPr>
          <p:cNvPr id="22" name="Text 20"/>
          <p:cNvSpPr txBox="1"/>
          <p:nvPr/>
        </p:nvSpPr>
        <p:spPr>
          <a:xfrm>
            <a:off x="9383801" y="2240280"/>
            <a:ext cx="1984934" cy="3383280"/>
          </a:xfrm>
          <a:prstGeom prst="rect">
            <a:avLst/>
          </a:prstGeom>
          <a:noFill/>
          <a:ln/>
        </p:spPr>
        <p:txBody>
          <a:bodyPr wrap="square" lIns="0" tIns="0" rIns="0" bIns="0" rtlCol="0" anchor="t"/>
          <a:lstStyle/>
          <a:p>
            <a:pPr indent="0" marL="0">
              <a:buNone/>
            </a:pPr>
            <a:r>
              <a:rPr lang="en-US" sz="1600" dirty="0">
                <a:solidFill>
                  <a:srgbClr val="1F2A30"/>
                </a:solidFill>
                <a:latin typeface="Calibri" pitchFamily="34" charset="0"/>
                <a:ea typeface="Calibri" pitchFamily="34" charset="-122"/>
                <a:cs typeface="Calibri" pitchFamily="34" charset="-120"/>
              </a:rPr>
              <a:t>Vier Tage, die aufeinander aufbauen – mit klaren Übergaben.</a:t>
            </a:r>
            <a:endParaRPr lang="en-US" sz="16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3C49"/>
                </a:solidFill>
                <a:latin typeface="Cambria" pitchFamily="34" charset="0"/>
                <a:ea typeface="Cambria" pitchFamily="34" charset="-122"/>
                <a:cs typeface="Cambria" pitchFamily="34" charset="-120"/>
              </a:rPr>
              <a:t>Die Projektwoche für Klasse 7</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645920"/>
                <a:gridCol w="2011680"/>
                <a:gridCol w="5852160"/>
                <a:gridCol w="1554480"/>
              </a:tblGrid>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Tag</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0B6E69"/>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Fach</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0B6E69"/>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Tagesziel der Schülerinnen und Schüler</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0B6E69"/>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Zeit</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0B6E69"/>
                    </a:solidFill>
                  </a:tcPr>
                </a:tc>
              </a:tr>
              <a:tr h="502920">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Montag</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FFFFF"/>
                    </a:solidFill>
                  </a:tcPr>
                </a:tc>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Technik</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FFFFF"/>
                    </a:solidFill>
                  </a:tcPr>
                </a:tc>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mBot2 geprüft; Fehler systematisch gefunden, behoben, Kontrolltest</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FFFFF"/>
                    </a:solidFill>
                  </a:tcPr>
                </a:tc>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3–5 Std.</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FFFFF"/>
                    </a:solidFill>
                  </a:tcPr>
                </a:tc>
              </a:tr>
              <a:tr h="502920">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Dienstag</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4F9F8"/>
                    </a:solidFill>
                  </a:tcPr>
                </a:tc>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Mathematik</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4F9F8"/>
                    </a:solidFill>
                  </a:tcPr>
                </a:tc>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Fahrwege berechnet, verglichen, begründet, mit dem mBot2 überprüft</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4F9F8"/>
                    </a:solidFill>
                  </a:tcPr>
                </a:tc>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4–6 Std.</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4F9F8"/>
                    </a:solidFill>
                  </a:tcPr>
                </a:tc>
              </a:tr>
              <a:tr h="502920">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Mittwoch</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FFFFF"/>
                    </a:solidFill>
                  </a:tcPr>
                </a:tc>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Physik</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FFFFF"/>
                    </a:solidFill>
                  </a:tcPr>
                </a:tc>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zwei Messungen mit Hypothese durchgeführt und ausgewertet</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FFFFF"/>
                    </a:solidFill>
                  </a:tcPr>
                </a:tc>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4–6 Std.</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FFFFF"/>
                    </a:solidFill>
                  </a:tcPr>
                </a:tc>
              </a:tr>
              <a:tr h="502920">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Donnerstag</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4F9F8"/>
                    </a:solidFill>
                  </a:tcPr>
                </a:tc>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Informatik</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4F9F8"/>
                    </a:solidFill>
                  </a:tcPr>
                </a:tc>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eigenes Steuerprogramm mit Schleife und Bedingungen</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4F9F8"/>
                    </a:solidFill>
                  </a:tcPr>
                </a:tc>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4–6 Std.</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4F9F8"/>
                    </a:solidFill>
                  </a:tcPr>
                </a:tc>
              </a:tr>
              <a:tr h="502920">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Freitag</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FFFFF"/>
                    </a:solidFill>
                  </a:tcPr>
                </a:tc>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Präsentation</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FFFFF"/>
                    </a:solidFill>
                  </a:tcPr>
                </a:tc>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Schülerinnen und Schüler präsentieren als Expert:innen (schulindividuell)</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FFFFF"/>
                    </a:solidFill>
                  </a:tcPr>
                </a:tc>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3–4 Std.</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FFFFF"/>
                    </a:solidFill>
                  </a:tcPr>
                </a:tc>
              </a:tr>
            </a:tbl>
          </a:graphicData>
        </a:graphic>
      </p:graphicFrame>
      <p:sp>
        <p:nvSpPr>
          <p:cNvPr id="4" name="Shape 1"/>
          <p:cNvSpPr/>
          <p:nvPr/>
        </p:nvSpPr>
        <p:spPr>
          <a:xfrm>
            <a:off x="548640" y="5029200"/>
            <a:ext cx="11094415" cy="868680"/>
          </a:xfrm>
          <a:prstGeom prst="roundRect">
            <a:avLst>
              <a:gd name="adj" fmla="val 10526"/>
            </a:avLst>
          </a:prstGeom>
          <a:solidFill>
            <a:srgbClr val="FCEBDD"/>
          </a:solidFill>
          <a:ln w="12700">
            <a:solidFill>
              <a:srgbClr val="FCEBDD"/>
            </a:solidFill>
            <a:prstDash val="solid"/>
          </a:ln>
        </p:spPr>
      </p:sp>
      <p:sp>
        <p:nvSpPr>
          <p:cNvPr id="5" name="Shape 2"/>
          <p:cNvSpPr/>
          <p:nvPr/>
        </p:nvSpPr>
        <p:spPr>
          <a:xfrm>
            <a:off x="731520" y="5193792"/>
            <a:ext cx="548640" cy="548640"/>
          </a:xfrm>
          <a:prstGeom prst="ellipse">
            <a:avLst/>
          </a:prstGeom>
          <a:solidFill>
            <a:srgbClr val="E8772E"/>
          </a:solidFill>
          <a:ln w="12700">
            <a:solidFill>
              <a:srgbClr val="E8772E"/>
            </a:solidFill>
            <a:prstDash val="solid"/>
          </a:ln>
        </p:spPr>
      </p:sp>
      <p:sp>
        <p:nvSpPr>
          <p:cNvPr id="6" name="Text 3"/>
          <p:cNvSpPr txBox="1"/>
          <p:nvPr/>
        </p:nvSpPr>
        <p:spPr>
          <a:xfrm>
            <a:off x="731520" y="5193792"/>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7" name="Text 4"/>
          <p:cNvSpPr txBox="1"/>
          <p:nvPr/>
        </p:nvSpPr>
        <p:spPr>
          <a:xfrm>
            <a:off x="1463040" y="5029200"/>
            <a:ext cx="9997135" cy="868680"/>
          </a:xfrm>
          <a:prstGeom prst="rect">
            <a:avLst/>
          </a:prstGeom>
          <a:noFill/>
          <a:ln/>
        </p:spPr>
        <p:txBody>
          <a:bodyPr wrap="square" lIns="0" tIns="0" rIns="0" bIns="0" rtlCol="0" anchor="ctr"/>
          <a:lstStyle/>
          <a:p>
            <a:pPr indent="0" marL="0">
              <a:buNone/>
            </a:pPr>
            <a:r>
              <a:rPr lang="en-US" sz="1500" dirty="0">
                <a:solidFill>
                  <a:srgbClr val="0B3C49"/>
                </a:solidFill>
                <a:latin typeface="Calibri" pitchFamily="34" charset="0"/>
                <a:ea typeface="Calibri" pitchFamily="34" charset="-122"/>
                <a:cs typeface="Calibri" pitchFamily="34" charset="-120"/>
              </a:rPr>
              <a:t>Referenz für alle Gruppen: Klasse 7, Teams zu 3–4, mBot2 montiert. Die Übertragung auf Ihre eigene Lerngruppe folgt im Praxisauftrag.</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3C49"/>
                </a:solidFill>
                <a:latin typeface="Cambria" pitchFamily="34" charset="0"/>
                <a:ea typeface="Cambria" pitchFamily="34" charset="-122"/>
                <a:cs typeface="Cambria" pitchFamily="34" charset="-120"/>
              </a:rPr>
              <a:t>Ablauf heute</a:t>
            </a:r>
            <a:endParaRPr lang="en-US" sz="3200" dirty="0"/>
          </a:p>
        </p:txBody>
      </p:sp>
      <p:sp>
        <p:nvSpPr>
          <p:cNvPr id="3" name="Shape 1"/>
          <p:cNvSpPr/>
          <p:nvPr/>
        </p:nvSpPr>
        <p:spPr>
          <a:xfrm>
            <a:off x="822960" y="2423160"/>
            <a:ext cx="10545775" cy="0"/>
          </a:xfrm>
          <a:prstGeom prst="line">
            <a:avLst/>
          </a:prstGeom>
          <a:noFill/>
          <a:ln w="25400">
            <a:solidFill>
              <a:srgbClr val="C9DAD8"/>
            </a:solidFill>
            <a:prstDash val="solid"/>
          </a:ln>
        </p:spPr>
      </p:sp>
      <p:sp>
        <p:nvSpPr>
          <p:cNvPr id="4" name="Shape 2"/>
          <p:cNvSpPr/>
          <p:nvPr/>
        </p:nvSpPr>
        <p:spPr>
          <a:xfrm>
            <a:off x="1122655" y="2148840"/>
            <a:ext cx="548640" cy="548640"/>
          </a:xfrm>
          <a:prstGeom prst="ellipse">
            <a:avLst/>
          </a:prstGeom>
          <a:solidFill>
            <a:srgbClr val="0B6E69"/>
          </a:solidFill>
          <a:ln w="12700">
            <a:solidFill>
              <a:srgbClr val="0B6E69"/>
            </a:solidFill>
            <a:prstDash val="solid"/>
          </a:ln>
        </p:spPr>
      </p:sp>
      <p:sp>
        <p:nvSpPr>
          <p:cNvPr id="5" name="Text 3"/>
          <p:cNvSpPr txBox="1"/>
          <p:nvPr/>
        </p:nvSpPr>
        <p:spPr>
          <a:xfrm>
            <a:off x="1122655" y="21488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548640" y="2834640"/>
            <a:ext cx="1696669" cy="365760"/>
          </a:xfrm>
          <a:prstGeom prst="rect">
            <a:avLst/>
          </a:prstGeom>
          <a:noFill/>
          <a:ln/>
        </p:spPr>
        <p:txBody>
          <a:bodyPr wrap="square" lIns="0" tIns="0" rIns="0" bIns="0" rtlCol="0" anchor="ctr"/>
          <a:lstStyle/>
          <a:p>
            <a:pPr algn="ctr" indent="0" marL="0">
              <a:buNone/>
            </a:pPr>
            <a:r>
              <a:rPr lang="en-US" sz="1400" b="1" dirty="0">
                <a:solidFill>
                  <a:srgbClr val="0B6E69"/>
                </a:solidFill>
                <a:latin typeface="Calibri" pitchFamily="34" charset="0"/>
                <a:ea typeface="Calibri" pitchFamily="34" charset="-122"/>
                <a:cs typeface="Calibri" pitchFamily="34" charset="-120"/>
              </a:rPr>
              <a:t>0–10</a:t>
            </a:r>
            <a:endParaRPr lang="en-US" sz="1400" dirty="0"/>
          </a:p>
        </p:txBody>
      </p:sp>
      <p:sp>
        <p:nvSpPr>
          <p:cNvPr id="7" name="Shape 5"/>
          <p:cNvSpPr/>
          <p:nvPr/>
        </p:nvSpPr>
        <p:spPr>
          <a:xfrm>
            <a:off x="548640" y="3291840"/>
            <a:ext cx="1696669" cy="2926080"/>
          </a:xfrm>
          <a:prstGeom prst="roundRect">
            <a:avLst>
              <a:gd name="adj" fmla="val 5389"/>
            </a:avLst>
          </a:prstGeom>
          <a:solidFill>
            <a:srgbClr val="E6F2F1"/>
          </a:solidFill>
          <a:ln w="12700">
            <a:solidFill>
              <a:srgbClr val="E6F2F1"/>
            </a:solidFill>
            <a:prstDash val="solid"/>
          </a:ln>
        </p:spPr>
      </p:sp>
      <p:sp>
        <p:nvSpPr>
          <p:cNvPr id="8" name="Text 6"/>
          <p:cNvSpPr txBox="1"/>
          <p:nvPr/>
        </p:nvSpPr>
        <p:spPr>
          <a:xfrm>
            <a:off x="731520" y="3429000"/>
            <a:ext cx="1330909" cy="685800"/>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Einstieg</a:t>
            </a:r>
            <a:endParaRPr lang="en-US" sz="1600" dirty="0"/>
          </a:p>
        </p:txBody>
      </p:sp>
      <p:sp>
        <p:nvSpPr>
          <p:cNvPr id="9" name="Text 7"/>
          <p:cNvSpPr txBox="1"/>
          <p:nvPr/>
        </p:nvSpPr>
        <p:spPr>
          <a:xfrm>
            <a:off x="731520" y="4160520"/>
            <a:ext cx="1330909" cy="1965960"/>
          </a:xfrm>
          <a:prstGeom prst="rect">
            <a:avLst/>
          </a:prstGeom>
          <a:noFill/>
          <a:ln/>
        </p:spPr>
        <p:txBody>
          <a:bodyPr wrap="square" lIns="0" tIns="0" rIns="0" bIns="0" rtlCol="0" anchor="t"/>
          <a:lstStyle/>
          <a:p>
            <a:pPr indent="0" marL="0">
              <a:buNone/>
            </a:pPr>
            <a:r>
              <a:rPr lang="en-US" sz="1500" dirty="0">
                <a:solidFill>
                  <a:srgbClr val="1F2A30"/>
                </a:solidFill>
                <a:latin typeface="Calibri" pitchFamily="34" charset="0"/>
                <a:ea typeface="Calibri" pitchFamily="34" charset="-122"/>
                <a:cs typeface="Calibri" pitchFamily="34" charset="-120"/>
              </a:rPr>
              <a:t>Rückblick, Wochenstruktur, Rollen, Aufgabenkarten</a:t>
            </a:r>
            <a:endParaRPr lang="en-US" sz="1500" dirty="0"/>
          </a:p>
        </p:txBody>
      </p:sp>
      <p:sp>
        <p:nvSpPr>
          <p:cNvPr id="10" name="Shape 8"/>
          <p:cNvSpPr/>
          <p:nvPr/>
        </p:nvSpPr>
        <p:spPr>
          <a:xfrm>
            <a:off x="3002204" y="2148840"/>
            <a:ext cx="548640" cy="548640"/>
          </a:xfrm>
          <a:prstGeom prst="ellipse">
            <a:avLst/>
          </a:prstGeom>
          <a:solidFill>
            <a:srgbClr val="E8772E"/>
          </a:solidFill>
          <a:ln w="12700">
            <a:solidFill>
              <a:srgbClr val="E8772E"/>
            </a:solidFill>
            <a:prstDash val="solid"/>
          </a:ln>
        </p:spPr>
      </p:sp>
      <p:sp>
        <p:nvSpPr>
          <p:cNvPr id="11" name="Text 9"/>
          <p:cNvSpPr txBox="1"/>
          <p:nvPr/>
        </p:nvSpPr>
        <p:spPr>
          <a:xfrm>
            <a:off x="3002204" y="21488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2428189" y="2834640"/>
            <a:ext cx="1696669" cy="365760"/>
          </a:xfrm>
          <a:prstGeom prst="rect">
            <a:avLst/>
          </a:prstGeom>
          <a:noFill/>
          <a:ln/>
        </p:spPr>
        <p:txBody>
          <a:bodyPr wrap="square" lIns="0" tIns="0" rIns="0" bIns="0" rtlCol="0" anchor="ctr"/>
          <a:lstStyle/>
          <a:p>
            <a:pPr algn="ctr" indent="0" marL="0">
              <a:buNone/>
            </a:pPr>
            <a:r>
              <a:rPr lang="en-US" sz="1400" b="1" dirty="0">
                <a:solidFill>
                  <a:srgbClr val="0B6E69"/>
                </a:solidFill>
                <a:latin typeface="Calibri" pitchFamily="34" charset="0"/>
                <a:ea typeface="Calibri" pitchFamily="34" charset="-122"/>
                <a:cs typeface="Calibri" pitchFamily="34" charset="-120"/>
              </a:rPr>
              <a:t>10–40</a:t>
            </a:r>
            <a:endParaRPr lang="en-US" sz="1400" dirty="0"/>
          </a:p>
        </p:txBody>
      </p:sp>
      <p:sp>
        <p:nvSpPr>
          <p:cNvPr id="13" name="Shape 11"/>
          <p:cNvSpPr/>
          <p:nvPr/>
        </p:nvSpPr>
        <p:spPr>
          <a:xfrm>
            <a:off x="2428189" y="3291840"/>
            <a:ext cx="1696669" cy="2926080"/>
          </a:xfrm>
          <a:prstGeom prst="roundRect">
            <a:avLst>
              <a:gd name="adj" fmla="val 5389"/>
            </a:avLst>
          </a:prstGeom>
          <a:solidFill>
            <a:srgbClr val="FCEBDD"/>
          </a:solidFill>
          <a:ln w="12700">
            <a:solidFill>
              <a:srgbClr val="FCEBDD"/>
            </a:solidFill>
            <a:prstDash val="solid"/>
          </a:ln>
        </p:spPr>
      </p:sp>
      <p:sp>
        <p:nvSpPr>
          <p:cNvPr id="14" name="Text 12"/>
          <p:cNvSpPr txBox="1"/>
          <p:nvPr/>
        </p:nvSpPr>
        <p:spPr>
          <a:xfrm>
            <a:off x="2611069" y="3429000"/>
            <a:ext cx="1330909" cy="685800"/>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Erprobung</a:t>
            </a:r>
            <a:endParaRPr lang="en-US" sz="1600" dirty="0"/>
          </a:p>
        </p:txBody>
      </p:sp>
      <p:sp>
        <p:nvSpPr>
          <p:cNvPr id="15" name="Text 13"/>
          <p:cNvSpPr txBox="1"/>
          <p:nvPr/>
        </p:nvSpPr>
        <p:spPr>
          <a:xfrm>
            <a:off x="2611069" y="4160520"/>
            <a:ext cx="1330909" cy="1965960"/>
          </a:xfrm>
          <a:prstGeom prst="rect">
            <a:avLst/>
          </a:prstGeom>
          <a:noFill/>
          <a:ln/>
        </p:spPr>
        <p:txBody>
          <a:bodyPr wrap="square" lIns="0" tIns="0" rIns="0" bIns="0" rtlCol="0" anchor="t"/>
          <a:lstStyle/>
          <a:p>
            <a:pPr indent="0" marL="0">
              <a:buNone/>
            </a:pPr>
            <a:r>
              <a:rPr lang="en-US" sz="1500" dirty="0">
                <a:solidFill>
                  <a:srgbClr val="1F2A30"/>
                </a:solidFill>
                <a:latin typeface="Calibri" pitchFamily="34" charset="0"/>
                <a:ea typeface="Calibri" pitchFamily="34" charset="-122"/>
                <a:cs typeface="Calibri" pitchFamily="34" charset="-120"/>
              </a:rPr>
              <a:t>Kernauftrag 20 Min., Rollenwechsel, Erweiterung 10 Min.</a:t>
            </a:r>
            <a:endParaRPr lang="en-US" sz="1500" dirty="0"/>
          </a:p>
        </p:txBody>
      </p:sp>
      <p:sp>
        <p:nvSpPr>
          <p:cNvPr id="16" name="Shape 14"/>
          <p:cNvSpPr/>
          <p:nvPr/>
        </p:nvSpPr>
        <p:spPr>
          <a:xfrm>
            <a:off x="4881753" y="2148840"/>
            <a:ext cx="548640" cy="548640"/>
          </a:xfrm>
          <a:prstGeom prst="ellipse">
            <a:avLst/>
          </a:prstGeom>
          <a:solidFill>
            <a:srgbClr val="0B6E69"/>
          </a:solidFill>
          <a:ln w="12700">
            <a:solidFill>
              <a:srgbClr val="0B6E69"/>
            </a:solidFill>
            <a:prstDash val="solid"/>
          </a:ln>
        </p:spPr>
      </p:sp>
      <p:sp>
        <p:nvSpPr>
          <p:cNvPr id="17" name="Text 15"/>
          <p:cNvSpPr txBox="1"/>
          <p:nvPr/>
        </p:nvSpPr>
        <p:spPr>
          <a:xfrm>
            <a:off x="4881753" y="21488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8" name="Text 16"/>
          <p:cNvSpPr txBox="1"/>
          <p:nvPr/>
        </p:nvSpPr>
        <p:spPr>
          <a:xfrm>
            <a:off x="4307738" y="2834640"/>
            <a:ext cx="1696669" cy="365760"/>
          </a:xfrm>
          <a:prstGeom prst="rect">
            <a:avLst/>
          </a:prstGeom>
          <a:noFill/>
          <a:ln/>
        </p:spPr>
        <p:txBody>
          <a:bodyPr wrap="square" lIns="0" tIns="0" rIns="0" bIns="0" rtlCol="0" anchor="ctr"/>
          <a:lstStyle/>
          <a:p>
            <a:pPr algn="ctr" indent="0" marL="0">
              <a:buNone/>
            </a:pPr>
            <a:r>
              <a:rPr lang="en-US" sz="1400" b="1" dirty="0">
                <a:solidFill>
                  <a:srgbClr val="0B6E69"/>
                </a:solidFill>
                <a:latin typeface="Calibri" pitchFamily="34" charset="0"/>
                <a:ea typeface="Calibri" pitchFamily="34" charset="-122"/>
                <a:cs typeface="Calibri" pitchFamily="34" charset="-120"/>
              </a:rPr>
              <a:t>40–60</a:t>
            </a:r>
            <a:endParaRPr lang="en-US" sz="1400" dirty="0"/>
          </a:p>
        </p:txBody>
      </p:sp>
      <p:sp>
        <p:nvSpPr>
          <p:cNvPr id="19" name="Shape 17"/>
          <p:cNvSpPr/>
          <p:nvPr/>
        </p:nvSpPr>
        <p:spPr>
          <a:xfrm>
            <a:off x="4307738" y="3291840"/>
            <a:ext cx="1696669" cy="2926080"/>
          </a:xfrm>
          <a:prstGeom prst="roundRect">
            <a:avLst>
              <a:gd name="adj" fmla="val 5389"/>
            </a:avLst>
          </a:prstGeom>
          <a:solidFill>
            <a:srgbClr val="E6F2F1"/>
          </a:solidFill>
          <a:ln w="12700">
            <a:solidFill>
              <a:srgbClr val="E6F2F1"/>
            </a:solidFill>
            <a:prstDash val="solid"/>
          </a:ln>
        </p:spPr>
      </p:sp>
      <p:sp>
        <p:nvSpPr>
          <p:cNvPr id="20" name="Text 18"/>
          <p:cNvSpPr txBox="1"/>
          <p:nvPr/>
        </p:nvSpPr>
        <p:spPr>
          <a:xfrm>
            <a:off x="4490618" y="3429000"/>
            <a:ext cx="1330909" cy="685800"/>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Planung</a:t>
            </a:r>
            <a:endParaRPr lang="en-US" sz="1600" dirty="0"/>
          </a:p>
        </p:txBody>
      </p:sp>
      <p:sp>
        <p:nvSpPr>
          <p:cNvPr id="21" name="Text 19"/>
          <p:cNvSpPr txBox="1"/>
          <p:nvPr/>
        </p:nvSpPr>
        <p:spPr>
          <a:xfrm>
            <a:off x="4490618" y="4160520"/>
            <a:ext cx="1330909" cy="1965960"/>
          </a:xfrm>
          <a:prstGeom prst="rect">
            <a:avLst/>
          </a:prstGeom>
          <a:noFill/>
          <a:ln/>
        </p:spPr>
        <p:txBody>
          <a:bodyPr wrap="square" lIns="0" tIns="0" rIns="0" bIns="0" rtlCol="0" anchor="t"/>
          <a:lstStyle/>
          <a:p>
            <a:pPr indent="0" marL="0">
              <a:buNone/>
            </a:pPr>
            <a:r>
              <a:rPr lang="en-US" sz="1500" dirty="0">
                <a:solidFill>
                  <a:srgbClr val="1F2A30"/>
                </a:solidFill>
                <a:latin typeface="Calibri" pitchFamily="34" charset="0"/>
                <a:ea typeface="Calibri" pitchFamily="34" charset="-122"/>
                <a:cs typeface="Calibri" pitchFamily="34" charset="-120"/>
              </a:rPr>
              <a:t>Tagesplan mit der Planungsvorlage</a:t>
            </a:r>
            <a:endParaRPr lang="en-US" sz="1500" dirty="0"/>
          </a:p>
        </p:txBody>
      </p:sp>
      <p:sp>
        <p:nvSpPr>
          <p:cNvPr id="22" name="Shape 20"/>
          <p:cNvSpPr/>
          <p:nvPr/>
        </p:nvSpPr>
        <p:spPr>
          <a:xfrm>
            <a:off x="6761302" y="2148840"/>
            <a:ext cx="548640" cy="548640"/>
          </a:xfrm>
          <a:prstGeom prst="ellipse">
            <a:avLst/>
          </a:prstGeom>
          <a:solidFill>
            <a:srgbClr val="0B6E69"/>
          </a:solidFill>
          <a:ln w="12700">
            <a:solidFill>
              <a:srgbClr val="0B6E69"/>
            </a:solidFill>
            <a:prstDash val="solid"/>
          </a:ln>
        </p:spPr>
      </p:sp>
      <p:sp>
        <p:nvSpPr>
          <p:cNvPr id="23" name="Text 21"/>
          <p:cNvSpPr txBox="1"/>
          <p:nvPr/>
        </p:nvSpPr>
        <p:spPr>
          <a:xfrm>
            <a:off x="6761302" y="21488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6187288" y="2834640"/>
            <a:ext cx="1696669" cy="365760"/>
          </a:xfrm>
          <a:prstGeom prst="rect">
            <a:avLst/>
          </a:prstGeom>
          <a:noFill/>
          <a:ln/>
        </p:spPr>
        <p:txBody>
          <a:bodyPr wrap="square" lIns="0" tIns="0" rIns="0" bIns="0" rtlCol="0" anchor="ctr"/>
          <a:lstStyle/>
          <a:p>
            <a:pPr algn="ctr" indent="0" marL="0">
              <a:buNone/>
            </a:pPr>
            <a:r>
              <a:rPr lang="en-US" sz="1400" b="1" dirty="0">
                <a:solidFill>
                  <a:srgbClr val="0B6E69"/>
                </a:solidFill>
                <a:latin typeface="Calibri" pitchFamily="34" charset="0"/>
                <a:ea typeface="Calibri" pitchFamily="34" charset="-122"/>
                <a:cs typeface="Calibri" pitchFamily="34" charset="-120"/>
              </a:rPr>
              <a:t>60–78</a:t>
            </a:r>
            <a:endParaRPr lang="en-US" sz="1400" dirty="0"/>
          </a:p>
        </p:txBody>
      </p:sp>
      <p:sp>
        <p:nvSpPr>
          <p:cNvPr id="25" name="Shape 23"/>
          <p:cNvSpPr/>
          <p:nvPr/>
        </p:nvSpPr>
        <p:spPr>
          <a:xfrm>
            <a:off x="6187288" y="3291840"/>
            <a:ext cx="1696669" cy="2926080"/>
          </a:xfrm>
          <a:prstGeom prst="roundRect">
            <a:avLst>
              <a:gd name="adj" fmla="val 5389"/>
            </a:avLst>
          </a:prstGeom>
          <a:solidFill>
            <a:srgbClr val="E6F2F1"/>
          </a:solidFill>
          <a:ln w="12700">
            <a:solidFill>
              <a:srgbClr val="E6F2F1"/>
            </a:solidFill>
            <a:prstDash val="solid"/>
          </a:ln>
        </p:spPr>
      </p:sp>
      <p:sp>
        <p:nvSpPr>
          <p:cNvPr id="26" name="Text 24"/>
          <p:cNvSpPr txBox="1"/>
          <p:nvPr/>
        </p:nvSpPr>
        <p:spPr>
          <a:xfrm>
            <a:off x="6370168" y="3429000"/>
            <a:ext cx="1330909" cy="685800"/>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Präsentation</a:t>
            </a:r>
            <a:endParaRPr lang="en-US" sz="1600" dirty="0"/>
          </a:p>
        </p:txBody>
      </p:sp>
      <p:sp>
        <p:nvSpPr>
          <p:cNvPr id="27" name="Text 25"/>
          <p:cNvSpPr txBox="1"/>
          <p:nvPr/>
        </p:nvSpPr>
        <p:spPr>
          <a:xfrm>
            <a:off x="6370168" y="4160520"/>
            <a:ext cx="1330909" cy="1965960"/>
          </a:xfrm>
          <a:prstGeom prst="rect">
            <a:avLst/>
          </a:prstGeom>
          <a:noFill/>
          <a:ln/>
        </p:spPr>
        <p:txBody>
          <a:bodyPr wrap="square" lIns="0" tIns="0" rIns="0" bIns="0" rtlCol="0" anchor="t"/>
          <a:lstStyle/>
          <a:p>
            <a:pPr indent="0" marL="0">
              <a:buNone/>
            </a:pPr>
            <a:r>
              <a:rPr lang="en-US" sz="1500" dirty="0">
                <a:solidFill>
                  <a:srgbClr val="1F2A30"/>
                </a:solidFill>
                <a:latin typeface="Calibri" pitchFamily="34" charset="0"/>
                <a:ea typeface="Calibri" pitchFamily="34" charset="-122"/>
                <a:cs typeface="Calibri" pitchFamily="34" charset="-120"/>
              </a:rPr>
              <a:t>1 Min. Demo + 3 Min. Plan, Peer-Feedback</a:t>
            </a:r>
            <a:endParaRPr lang="en-US" sz="1500" dirty="0"/>
          </a:p>
        </p:txBody>
      </p:sp>
      <p:sp>
        <p:nvSpPr>
          <p:cNvPr id="28" name="Shape 26"/>
          <p:cNvSpPr/>
          <p:nvPr/>
        </p:nvSpPr>
        <p:spPr>
          <a:xfrm>
            <a:off x="8640851" y="2148840"/>
            <a:ext cx="548640" cy="548640"/>
          </a:xfrm>
          <a:prstGeom prst="ellipse">
            <a:avLst/>
          </a:prstGeom>
          <a:solidFill>
            <a:srgbClr val="0B6E69"/>
          </a:solidFill>
          <a:ln w="12700">
            <a:solidFill>
              <a:srgbClr val="0B6E69"/>
            </a:solidFill>
            <a:prstDash val="solid"/>
          </a:ln>
        </p:spPr>
      </p:sp>
      <p:sp>
        <p:nvSpPr>
          <p:cNvPr id="29" name="Text 27"/>
          <p:cNvSpPr txBox="1"/>
          <p:nvPr/>
        </p:nvSpPr>
        <p:spPr>
          <a:xfrm>
            <a:off x="8640851" y="21488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0" name="Text 28"/>
          <p:cNvSpPr txBox="1"/>
          <p:nvPr/>
        </p:nvSpPr>
        <p:spPr>
          <a:xfrm>
            <a:off x="8066837" y="2834640"/>
            <a:ext cx="1696669" cy="365760"/>
          </a:xfrm>
          <a:prstGeom prst="rect">
            <a:avLst/>
          </a:prstGeom>
          <a:noFill/>
          <a:ln/>
        </p:spPr>
        <p:txBody>
          <a:bodyPr wrap="square" lIns="0" tIns="0" rIns="0" bIns="0" rtlCol="0" anchor="ctr"/>
          <a:lstStyle/>
          <a:p>
            <a:pPr algn="ctr" indent="0" marL="0">
              <a:buNone/>
            </a:pPr>
            <a:r>
              <a:rPr lang="en-US" sz="1400" b="1" dirty="0">
                <a:solidFill>
                  <a:srgbClr val="0B6E69"/>
                </a:solidFill>
                <a:latin typeface="Calibri" pitchFamily="34" charset="0"/>
                <a:ea typeface="Calibri" pitchFamily="34" charset="-122"/>
                <a:cs typeface="Calibri" pitchFamily="34" charset="-120"/>
              </a:rPr>
              <a:t>78–85</a:t>
            </a:r>
            <a:endParaRPr lang="en-US" sz="1400" dirty="0"/>
          </a:p>
        </p:txBody>
      </p:sp>
      <p:sp>
        <p:nvSpPr>
          <p:cNvPr id="31" name="Shape 29"/>
          <p:cNvSpPr/>
          <p:nvPr/>
        </p:nvSpPr>
        <p:spPr>
          <a:xfrm>
            <a:off x="8066837" y="3291840"/>
            <a:ext cx="1696669" cy="2926080"/>
          </a:xfrm>
          <a:prstGeom prst="roundRect">
            <a:avLst>
              <a:gd name="adj" fmla="val 5389"/>
            </a:avLst>
          </a:prstGeom>
          <a:solidFill>
            <a:srgbClr val="E6F2F1"/>
          </a:solidFill>
          <a:ln w="12700">
            <a:solidFill>
              <a:srgbClr val="E6F2F1"/>
            </a:solidFill>
            <a:prstDash val="solid"/>
          </a:ln>
        </p:spPr>
      </p:sp>
      <p:sp>
        <p:nvSpPr>
          <p:cNvPr id="32" name="Text 30"/>
          <p:cNvSpPr txBox="1"/>
          <p:nvPr/>
        </p:nvSpPr>
        <p:spPr>
          <a:xfrm>
            <a:off x="8249717" y="3429000"/>
            <a:ext cx="1330909" cy="685800"/>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Vernetzung</a:t>
            </a:r>
            <a:endParaRPr lang="en-US" sz="1600" dirty="0"/>
          </a:p>
        </p:txBody>
      </p:sp>
      <p:sp>
        <p:nvSpPr>
          <p:cNvPr id="33" name="Text 31"/>
          <p:cNvSpPr txBox="1"/>
          <p:nvPr/>
        </p:nvSpPr>
        <p:spPr>
          <a:xfrm>
            <a:off x="8249717" y="4160520"/>
            <a:ext cx="1330909" cy="1965960"/>
          </a:xfrm>
          <a:prstGeom prst="rect">
            <a:avLst/>
          </a:prstGeom>
          <a:noFill/>
          <a:ln/>
        </p:spPr>
        <p:txBody>
          <a:bodyPr wrap="square" lIns="0" tIns="0" rIns="0" bIns="0" rtlCol="0" anchor="t"/>
          <a:lstStyle/>
          <a:p>
            <a:pPr indent="0" marL="0">
              <a:buNone/>
            </a:pPr>
            <a:r>
              <a:rPr lang="en-US" sz="1500" dirty="0">
                <a:solidFill>
                  <a:srgbClr val="1F2A30"/>
                </a:solidFill>
                <a:latin typeface="Calibri" pitchFamily="34" charset="0"/>
                <a:ea typeface="Calibri" pitchFamily="34" charset="-122"/>
                <a:cs typeface="Calibri" pitchFamily="34" charset="-120"/>
              </a:rPr>
              <a:t>Übergabe-Matrix, Freitag</a:t>
            </a:r>
            <a:endParaRPr lang="en-US" sz="1500" dirty="0"/>
          </a:p>
        </p:txBody>
      </p:sp>
      <p:sp>
        <p:nvSpPr>
          <p:cNvPr id="34" name="Shape 32"/>
          <p:cNvSpPr/>
          <p:nvPr/>
        </p:nvSpPr>
        <p:spPr>
          <a:xfrm>
            <a:off x="10520401" y="2148840"/>
            <a:ext cx="548640" cy="548640"/>
          </a:xfrm>
          <a:prstGeom prst="ellipse">
            <a:avLst/>
          </a:prstGeom>
          <a:solidFill>
            <a:srgbClr val="0B6E69"/>
          </a:solidFill>
          <a:ln w="12700">
            <a:solidFill>
              <a:srgbClr val="0B6E69"/>
            </a:solidFill>
            <a:prstDash val="solid"/>
          </a:ln>
        </p:spPr>
      </p:sp>
      <p:sp>
        <p:nvSpPr>
          <p:cNvPr id="35" name="Text 33"/>
          <p:cNvSpPr txBox="1"/>
          <p:nvPr/>
        </p:nvSpPr>
        <p:spPr>
          <a:xfrm>
            <a:off x="10520401" y="21488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6" name="Text 34"/>
          <p:cNvSpPr txBox="1"/>
          <p:nvPr/>
        </p:nvSpPr>
        <p:spPr>
          <a:xfrm>
            <a:off x="9946386" y="2834640"/>
            <a:ext cx="1696669" cy="365760"/>
          </a:xfrm>
          <a:prstGeom prst="rect">
            <a:avLst/>
          </a:prstGeom>
          <a:noFill/>
          <a:ln/>
        </p:spPr>
        <p:txBody>
          <a:bodyPr wrap="square" lIns="0" tIns="0" rIns="0" bIns="0" rtlCol="0" anchor="ctr"/>
          <a:lstStyle/>
          <a:p>
            <a:pPr algn="ctr" indent="0" marL="0">
              <a:buNone/>
            </a:pPr>
            <a:r>
              <a:rPr lang="en-US" sz="1400" b="1" dirty="0">
                <a:solidFill>
                  <a:srgbClr val="0B6E69"/>
                </a:solidFill>
                <a:latin typeface="Calibri" pitchFamily="34" charset="0"/>
                <a:ea typeface="Calibri" pitchFamily="34" charset="-122"/>
                <a:cs typeface="Calibri" pitchFamily="34" charset="-120"/>
              </a:rPr>
              <a:t>85–90</a:t>
            </a:r>
            <a:endParaRPr lang="en-US" sz="1400" dirty="0"/>
          </a:p>
        </p:txBody>
      </p:sp>
      <p:sp>
        <p:nvSpPr>
          <p:cNvPr id="37" name="Shape 35"/>
          <p:cNvSpPr/>
          <p:nvPr/>
        </p:nvSpPr>
        <p:spPr>
          <a:xfrm>
            <a:off x="9946386" y="3291840"/>
            <a:ext cx="1696669" cy="2926080"/>
          </a:xfrm>
          <a:prstGeom prst="roundRect">
            <a:avLst>
              <a:gd name="adj" fmla="val 5389"/>
            </a:avLst>
          </a:prstGeom>
          <a:solidFill>
            <a:srgbClr val="E6F2F1"/>
          </a:solidFill>
          <a:ln w="12700">
            <a:solidFill>
              <a:srgbClr val="E6F2F1"/>
            </a:solidFill>
            <a:prstDash val="solid"/>
          </a:ln>
        </p:spPr>
      </p:sp>
      <p:sp>
        <p:nvSpPr>
          <p:cNvPr id="38" name="Text 36"/>
          <p:cNvSpPr txBox="1"/>
          <p:nvPr/>
        </p:nvSpPr>
        <p:spPr>
          <a:xfrm>
            <a:off x="10129266" y="3429000"/>
            <a:ext cx="1330909" cy="685800"/>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Abschluss</a:t>
            </a:r>
            <a:endParaRPr lang="en-US" sz="1600" dirty="0"/>
          </a:p>
        </p:txBody>
      </p:sp>
      <p:sp>
        <p:nvSpPr>
          <p:cNvPr id="39" name="Text 37"/>
          <p:cNvSpPr txBox="1"/>
          <p:nvPr/>
        </p:nvSpPr>
        <p:spPr>
          <a:xfrm>
            <a:off x="10129266" y="4160520"/>
            <a:ext cx="1330909" cy="1965960"/>
          </a:xfrm>
          <a:prstGeom prst="rect">
            <a:avLst/>
          </a:prstGeom>
          <a:noFill/>
          <a:ln/>
        </p:spPr>
        <p:txBody>
          <a:bodyPr wrap="square" lIns="0" tIns="0" rIns="0" bIns="0" rtlCol="0" anchor="t"/>
          <a:lstStyle/>
          <a:p>
            <a:pPr indent="0" marL="0">
              <a:buNone/>
            </a:pPr>
            <a:r>
              <a:rPr lang="en-US" sz="1500" dirty="0">
                <a:solidFill>
                  <a:srgbClr val="1F2A30"/>
                </a:solidFill>
                <a:latin typeface="Calibri" pitchFamily="34" charset="0"/>
                <a:ea typeface="Calibri" pitchFamily="34" charset="-122"/>
                <a:cs typeface="Calibri" pitchFamily="34" charset="-120"/>
              </a:rPr>
              <a:t>Selbstcheck, Praxisauftrag, Evaluation</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3C49"/>
                </a:solidFill>
                <a:latin typeface="Cambria" pitchFamily="34" charset="0"/>
                <a:ea typeface="Cambria" pitchFamily="34" charset="-122"/>
                <a:cs typeface="Cambria" pitchFamily="34" charset="-120"/>
              </a:rPr>
              <a:t>Rollen in Ihrer Fachgruppe</a:t>
            </a:r>
            <a:endParaRPr lang="en-US" sz="3200" dirty="0"/>
          </a:p>
        </p:txBody>
      </p:sp>
      <p:sp>
        <p:nvSpPr>
          <p:cNvPr id="3" name="Text 1"/>
          <p:cNvSpPr txBox="1"/>
          <p:nvPr/>
        </p:nvSpPr>
        <p:spPr>
          <a:xfrm>
            <a:off x="548640" y="1234440"/>
            <a:ext cx="11094415" cy="640080"/>
          </a:xfrm>
          <a:prstGeom prst="rect">
            <a:avLst/>
          </a:prstGeom>
          <a:noFill/>
          <a:ln/>
        </p:spPr>
        <p:txBody>
          <a:bodyPr wrap="square" lIns="0" tIns="0" rIns="0" bIns="0" rtlCol="0" anchor="ctr"/>
          <a:lstStyle/>
          <a:p>
            <a:pPr indent="0" marL="0">
              <a:buNone/>
            </a:pPr>
            <a:r>
              <a:rPr lang="en-US" sz="1700" dirty="0">
                <a:solidFill>
                  <a:srgbClr val="5B6B73"/>
                </a:solidFill>
                <a:latin typeface="Calibri" pitchFamily="34" charset="0"/>
                <a:ea typeface="Calibri" pitchFamily="34" charset="-122"/>
                <a:cs typeface="Calibri" pitchFamily="34" charset="-120"/>
              </a:rPr>
              <a:t>Wechsel nach dem Kernauftrag – damit sich alle beteiligen.</a:t>
            </a:r>
            <a:endParaRPr lang="en-US" sz="1700" dirty="0"/>
          </a:p>
        </p:txBody>
      </p:sp>
      <p:sp>
        <p:nvSpPr>
          <p:cNvPr id="4" name="Shape 2"/>
          <p:cNvSpPr/>
          <p:nvPr/>
        </p:nvSpPr>
        <p:spPr>
          <a:xfrm>
            <a:off x="548640" y="1965960"/>
            <a:ext cx="3484778" cy="2834640"/>
          </a:xfrm>
          <a:prstGeom prst="roundRect">
            <a:avLst>
              <a:gd name="adj" fmla="val 3871"/>
            </a:avLst>
          </a:prstGeom>
          <a:solidFill>
            <a:srgbClr val="E6F2F1"/>
          </a:solidFill>
          <a:ln w="12700">
            <a:solidFill>
              <a:srgbClr val="E6F2F1"/>
            </a:solidFill>
            <a:prstDash val="solid"/>
          </a:ln>
        </p:spPr>
      </p:sp>
      <p:sp>
        <p:nvSpPr>
          <p:cNvPr id="5" name="Shape 3"/>
          <p:cNvSpPr/>
          <p:nvPr/>
        </p:nvSpPr>
        <p:spPr>
          <a:xfrm>
            <a:off x="777240" y="2194560"/>
            <a:ext cx="548640" cy="548640"/>
          </a:xfrm>
          <a:prstGeom prst="ellipse">
            <a:avLst/>
          </a:prstGeom>
          <a:solidFill>
            <a:srgbClr val="0B6E69"/>
          </a:solidFill>
          <a:ln w="12700">
            <a:solidFill>
              <a:srgbClr val="0B6E69"/>
            </a:solidFill>
            <a:prstDash val="solid"/>
          </a:ln>
        </p:spPr>
      </p:sp>
      <p:sp>
        <p:nvSpPr>
          <p:cNvPr id="6" name="Text 4"/>
          <p:cNvSpPr txBox="1"/>
          <p:nvPr/>
        </p:nvSpPr>
        <p:spPr>
          <a:xfrm>
            <a:off x="777240" y="21945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463040" y="2194560"/>
            <a:ext cx="2387498" cy="548640"/>
          </a:xfrm>
          <a:prstGeom prst="rect">
            <a:avLst/>
          </a:prstGeom>
          <a:noFill/>
          <a:ln/>
        </p:spPr>
        <p:txBody>
          <a:bodyPr wrap="square" lIns="0" tIns="0" rIns="0" bIns="0" rtlCol="0" anchor="ctr"/>
          <a:lstStyle/>
          <a:p>
            <a:pPr indent="0" marL="0">
              <a:buNone/>
            </a:pPr>
            <a:r>
              <a:rPr lang="en-US" sz="1800" b="1" dirty="0">
                <a:solidFill>
                  <a:srgbClr val="0B3C49"/>
                </a:solidFill>
                <a:latin typeface="Calibri" pitchFamily="34" charset="0"/>
                <a:ea typeface="Calibri" pitchFamily="34" charset="-122"/>
                <a:cs typeface="Calibri" pitchFamily="34" charset="-120"/>
              </a:rPr>
              <a:t>Bedienung</a:t>
            </a:r>
            <a:endParaRPr lang="en-US" sz="1800" dirty="0"/>
          </a:p>
        </p:txBody>
      </p:sp>
      <p:sp>
        <p:nvSpPr>
          <p:cNvPr id="8" name="Text 6"/>
          <p:cNvSpPr txBox="1"/>
          <p:nvPr/>
        </p:nvSpPr>
        <p:spPr>
          <a:xfrm>
            <a:off x="822960" y="2880360"/>
            <a:ext cx="2936138" cy="1737360"/>
          </a:xfrm>
          <a:prstGeom prst="rect">
            <a:avLst/>
          </a:prstGeom>
          <a:noFill/>
          <a:ln/>
        </p:spPr>
        <p:txBody>
          <a:bodyPr wrap="square" lIns="0" tIns="0" rIns="0" bIns="0" rtlCol="0" anchor="t"/>
          <a:lstStyle/>
          <a:p>
            <a:pPr marL="177800" indent="-177800">
              <a:spcAft>
                <a:spcPts val="600"/>
              </a:spcAft>
              <a:buSzPct val="100000"/>
              <a:buChar char="•"/>
            </a:pPr>
            <a:r>
              <a:rPr lang="en-US" sz="1700" dirty="0">
                <a:solidFill>
                  <a:srgbClr val="1F2A30"/>
                </a:solidFill>
                <a:latin typeface="Calibri" pitchFamily="34" charset="0"/>
                <a:ea typeface="Calibri" pitchFamily="34" charset="-122"/>
                <a:cs typeface="Calibri" pitchFamily="34" charset="-120"/>
              </a:rPr>
              <a:t>programmiert und startet den mBot2</a:t>
            </a:r>
            <a:endParaRPr lang="en-US" sz="1700" dirty="0"/>
          </a:p>
          <a:p>
            <a:pPr marL="177800" indent="-177800">
              <a:spcAft>
                <a:spcPts val="600"/>
              </a:spcAft>
              <a:buSzPct val="100000"/>
              <a:buChar char="•"/>
            </a:pPr>
            <a:r>
              <a:rPr lang="en-US" sz="1700" dirty="0">
                <a:solidFill>
                  <a:srgbClr val="1F2A30"/>
                </a:solidFill>
                <a:latin typeface="Calibri" pitchFamily="34" charset="0"/>
                <a:ea typeface="Calibri" pitchFamily="34" charset="-122"/>
                <a:cs typeface="Calibri" pitchFamily="34" charset="-120"/>
              </a:rPr>
              <a:t>setzt die Aufgabe praktisch um</a:t>
            </a:r>
            <a:endParaRPr lang="en-US" sz="1700" dirty="0"/>
          </a:p>
        </p:txBody>
      </p:sp>
      <p:sp>
        <p:nvSpPr>
          <p:cNvPr id="9" name="Shape 7"/>
          <p:cNvSpPr/>
          <p:nvPr/>
        </p:nvSpPr>
        <p:spPr>
          <a:xfrm>
            <a:off x="4353458" y="1965960"/>
            <a:ext cx="3484778" cy="2834640"/>
          </a:xfrm>
          <a:prstGeom prst="roundRect">
            <a:avLst>
              <a:gd name="adj" fmla="val 3871"/>
            </a:avLst>
          </a:prstGeom>
          <a:solidFill>
            <a:srgbClr val="FCEBDD"/>
          </a:solidFill>
          <a:ln w="12700">
            <a:solidFill>
              <a:srgbClr val="FCEBDD"/>
            </a:solidFill>
            <a:prstDash val="solid"/>
          </a:ln>
        </p:spPr>
      </p:sp>
      <p:sp>
        <p:nvSpPr>
          <p:cNvPr id="10" name="Shape 8"/>
          <p:cNvSpPr/>
          <p:nvPr/>
        </p:nvSpPr>
        <p:spPr>
          <a:xfrm>
            <a:off x="4582058" y="2194560"/>
            <a:ext cx="548640" cy="548640"/>
          </a:xfrm>
          <a:prstGeom prst="ellipse">
            <a:avLst/>
          </a:prstGeom>
          <a:solidFill>
            <a:srgbClr val="E8772E"/>
          </a:solidFill>
          <a:ln w="12700">
            <a:solidFill>
              <a:srgbClr val="E8772E"/>
            </a:solidFill>
            <a:prstDash val="solid"/>
          </a:ln>
        </p:spPr>
      </p:sp>
      <p:sp>
        <p:nvSpPr>
          <p:cNvPr id="11" name="Text 9"/>
          <p:cNvSpPr txBox="1"/>
          <p:nvPr/>
        </p:nvSpPr>
        <p:spPr>
          <a:xfrm>
            <a:off x="4582058" y="21945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5267858" y="2194560"/>
            <a:ext cx="2387498" cy="548640"/>
          </a:xfrm>
          <a:prstGeom prst="rect">
            <a:avLst/>
          </a:prstGeom>
          <a:noFill/>
          <a:ln/>
        </p:spPr>
        <p:txBody>
          <a:bodyPr wrap="square" lIns="0" tIns="0" rIns="0" bIns="0" rtlCol="0" anchor="ctr"/>
          <a:lstStyle/>
          <a:p>
            <a:pPr indent="0" marL="0">
              <a:buNone/>
            </a:pPr>
            <a:r>
              <a:rPr lang="en-US" sz="1800" b="1" dirty="0">
                <a:solidFill>
                  <a:srgbClr val="0B3C49"/>
                </a:solidFill>
                <a:latin typeface="Calibri" pitchFamily="34" charset="0"/>
                <a:ea typeface="Calibri" pitchFamily="34" charset="-122"/>
                <a:cs typeface="Calibri" pitchFamily="34" charset="-120"/>
              </a:rPr>
              <a:t>Zeit und Beobachtung</a:t>
            </a:r>
            <a:endParaRPr lang="en-US" sz="1800" dirty="0"/>
          </a:p>
        </p:txBody>
      </p:sp>
      <p:sp>
        <p:nvSpPr>
          <p:cNvPr id="13" name="Text 11"/>
          <p:cNvSpPr txBox="1"/>
          <p:nvPr/>
        </p:nvSpPr>
        <p:spPr>
          <a:xfrm>
            <a:off x="4627778" y="2880360"/>
            <a:ext cx="2936138" cy="1737360"/>
          </a:xfrm>
          <a:prstGeom prst="rect">
            <a:avLst/>
          </a:prstGeom>
          <a:noFill/>
          <a:ln/>
        </p:spPr>
        <p:txBody>
          <a:bodyPr wrap="square" lIns="0" tIns="0" rIns="0" bIns="0" rtlCol="0" anchor="t"/>
          <a:lstStyle/>
          <a:p>
            <a:pPr marL="177800" indent="-177800">
              <a:spcAft>
                <a:spcPts val="600"/>
              </a:spcAft>
              <a:buSzPct val="100000"/>
              <a:buChar char="•"/>
            </a:pPr>
            <a:r>
              <a:rPr lang="en-US" sz="1700" dirty="0">
                <a:solidFill>
                  <a:srgbClr val="1F2A30"/>
                </a:solidFill>
                <a:latin typeface="Calibri" pitchFamily="34" charset="0"/>
                <a:ea typeface="Calibri" pitchFamily="34" charset="-122"/>
                <a:cs typeface="Calibri" pitchFamily="34" charset="-120"/>
              </a:rPr>
              <a:t>stoppt die Dauer jedes Schritts</a:t>
            </a:r>
            <a:endParaRPr lang="en-US" sz="1700" dirty="0"/>
          </a:p>
          <a:p>
            <a:pPr marL="177800" indent="-177800">
              <a:spcAft>
                <a:spcPts val="600"/>
              </a:spcAft>
              <a:buSzPct val="100000"/>
              <a:buChar char="•"/>
            </a:pPr>
            <a:r>
              <a:rPr lang="en-US" sz="1700" dirty="0">
                <a:solidFill>
                  <a:srgbClr val="1F2A30"/>
                </a:solidFill>
                <a:latin typeface="Calibri" pitchFamily="34" charset="0"/>
                <a:ea typeface="Calibri" pitchFamily="34" charset="-122"/>
                <a:cs typeface="Calibri" pitchFamily="34" charset="-120"/>
              </a:rPr>
              <a:t>notiert Stolperstellen und Aha-Momente</a:t>
            </a:r>
            <a:endParaRPr lang="en-US" sz="1700" dirty="0"/>
          </a:p>
          <a:p>
            <a:pPr marL="177800" indent="-177800">
              <a:spcAft>
                <a:spcPts val="600"/>
              </a:spcAft>
              <a:buSzPct val="100000"/>
              <a:buChar char="•"/>
            </a:pPr>
            <a:r>
              <a:rPr lang="en-US" sz="1700" dirty="0">
                <a:solidFill>
                  <a:srgbClr val="1F2A30"/>
                </a:solidFill>
                <a:latin typeface="Calibri" pitchFamily="34" charset="0"/>
                <a:ea typeface="Calibri" pitchFamily="34" charset="-122"/>
                <a:cs typeface="Calibri" pitchFamily="34" charset="-120"/>
              </a:rPr>
              <a:t>→ Grundlage Ihrer Zeitplanung</a:t>
            </a:r>
            <a:endParaRPr lang="en-US" sz="1700" dirty="0"/>
          </a:p>
        </p:txBody>
      </p:sp>
      <p:sp>
        <p:nvSpPr>
          <p:cNvPr id="14" name="Shape 12"/>
          <p:cNvSpPr/>
          <p:nvPr/>
        </p:nvSpPr>
        <p:spPr>
          <a:xfrm>
            <a:off x="8158277" y="1965960"/>
            <a:ext cx="3484778" cy="2834640"/>
          </a:xfrm>
          <a:prstGeom prst="roundRect">
            <a:avLst>
              <a:gd name="adj" fmla="val 3871"/>
            </a:avLst>
          </a:prstGeom>
          <a:solidFill>
            <a:srgbClr val="E6F2F1"/>
          </a:solidFill>
          <a:ln w="12700">
            <a:solidFill>
              <a:srgbClr val="E6F2F1"/>
            </a:solidFill>
            <a:prstDash val="solid"/>
          </a:ln>
        </p:spPr>
      </p:sp>
      <p:sp>
        <p:nvSpPr>
          <p:cNvPr id="15" name="Shape 13"/>
          <p:cNvSpPr/>
          <p:nvPr/>
        </p:nvSpPr>
        <p:spPr>
          <a:xfrm>
            <a:off x="8386877" y="2194560"/>
            <a:ext cx="548640" cy="548640"/>
          </a:xfrm>
          <a:prstGeom prst="ellipse">
            <a:avLst/>
          </a:prstGeom>
          <a:solidFill>
            <a:srgbClr val="0B6E69"/>
          </a:solidFill>
          <a:ln w="12700">
            <a:solidFill>
              <a:srgbClr val="0B6E69"/>
            </a:solidFill>
            <a:prstDash val="solid"/>
          </a:ln>
        </p:spPr>
      </p:sp>
      <p:sp>
        <p:nvSpPr>
          <p:cNvPr id="16" name="Text 14"/>
          <p:cNvSpPr txBox="1"/>
          <p:nvPr/>
        </p:nvSpPr>
        <p:spPr>
          <a:xfrm>
            <a:off x="8386877" y="21945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txBox="1"/>
          <p:nvPr/>
        </p:nvSpPr>
        <p:spPr>
          <a:xfrm>
            <a:off x="9072677" y="2194560"/>
            <a:ext cx="2387498" cy="548640"/>
          </a:xfrm>
          <a:prstGeom prst="rect">
            <a:avLst/>
          </a:prstGeom>
          <a:noFill/>
          <a:ln/>
        </p:spPr>
        <p:txBody>
          <a:bodyPr wrap="square" lIns="0" tIns="0" rIns="0" bIns="0" rtlCol="0" anchor="ctr"/>
          <a:lstStyle/>
          <a:p>
            <a:pPr indent="0" marL="0">
              <a:buNone/>
            </a:pPr>
            <a:r>
              <a:rPr lang="en-US" sz="1800" b="1" dirty="0">
                <a:solidFill>
                  <a:srgbClr val="0B3C49"/>
                </a:solidFill>
                <a:latin typeface="Calibri" pitchFamily="34" charset="0"/>
                <a:ea typeface="Calibri" pitchFamily="34" charset="-122"/>
                <a:cs typeface="Calibri" pitchFamily="34" charset="-120"/>
              </a:rPr>
              <a:t>Dokumentation</a:t>
            </a:r>
            <a:endParaRPr lang="en-US" sz="1800" dirty="0"/>
          </a:p>
        </p:txBody>
      </p:sp>
      <p:sp>
        <p:nvSpPr>
          <p:cNvPr id="18" name="Text 16"/>
          <p:cNvSpPr txBox="1"/>
          <p:nvPr/>
        </p:nvSpPr>
        <p:spPr>
          <a:xfrm>
            <a:off x="8432597" y="2880360"/>
            <a:ext cx="2936138" cy="1737360"/>
          </a:xfrm>
          <a:prstGeom prst="rect">
            <a:avLst/>
          </a:prstGeom>
          <a:noFill/>
          <a:ln/>
        </p:spPr>
        <p:txBody>
          <a:bodyPr wrap="square" lIns="0" tIns="0" rIns="0" bIns="0" rtlCol="0" anchor="t"/>
          <a:lstStyle/>
          <a:p>
            <a:pPr marL="177800" indent="-177800">
              <a:spcAft>
                <a:spcPts val="600"/>
              </a:spcAft>
              <a:buSzPct val="100000"/>
              <a:buChar char="•"/>
            </a:pPr>
            <a:r>
              <a:rPr lang="en-US" sz="1700" dirty="0">
                <a:solidFill>
                  <a:srgbClr val="1F2A30"/>
                </a:solidFill>
                <a:latin typeface="Calibri" pitchFamily="34" charset="0"/>
                <a:ea typeface="Calibri" pitchFamily="34" charset="-122"/>
                <a:cs typeface="Calibri" pitchFamily="34" charset="-120"/>
              </a:rPr>
              <a:t>hält Ergebnisse, Messwerte, Programme fest</a:t>
            </a:r>
            <a:endParaRPr lang="en-US" sz="1700" dirty="0"/>
          </a:p>
          <a:p>
            <a:pPr marL="177800" indent="-177800">
              <a:spcAft>
                <a:spcPts val="600"/>
              </a:spcAft>
              <a:buSzPct val="100000"/>
              <a:buChar char="•"/>
            </a:pPr>
            <a:r>
              <a:rPr lang="en-US" sz="1700" dirty="0">
                <a:solidFill>
                  <a:srgbClr val="1F2A30"/>
                </a:solidFill>
                <a:latin typeface="Calibri" pitchFamily="34" charset="0"/>
                <a:ea typeface="Calibri" pitchFamily="34" charset="-122"/>
                <a:cs typeface="Calibri" pitchFamily="34" charset="-120"/>
              </a:rPr>
              <a:t>bereitet die Präsentation vor</a:t>
            </a:r>
            <a:endParaRPr lang="en-US" sz="1700" dirty="0"/>
          </a:p>
        </p:txBody>
      </p:sp>
      <p:sp>
        <p:nvSpPr>
          <p:cNvPr id="19" name="Shape 17"/>
          <p:cNvSpPr/>
          <p:nvPr/>
        </p:nvSpPr>
        <p:spPr>
          <a:xfrm>
            <a:off x="548640" y="5029200"/>
            <a:ext cx="11094415" cy="868680"/>
          </a:xfrm>
          <a:prstGeom prst="roundRect">
            <a:avLst>
              <a:gd name="adj" fmla="val 10526"/>
            </a:avLst>
          </a:prstGeom>
          <a:solidFill>
            <a:srgbClr val="FCEBDD"/>
          </a:solidFill>
          <a:ln w="12700">
            <a:solidFill>
              <a:srgbClr val="FCEBDD"/>
            </a:solidFill>
            <a:prstDash val="solid"/>
          </a:ln>
        </p:spPr>
      </p:sp>
      <p:sp>
        <p:nvSpPr>
          <p:cNvPr id="20" name="Shape 18"/>
          <p:cNvSpPr/>
          <p:nvPr/>
        </p:nvSpPr>
        <p:spPr>
          <a:xfrm>
            <a:off x="731520" y="5193792"/>
            <a:ext cx="548640" cy="548640"/>
          </a:xfrm>
          <a:prstGeom prst="ellipse">
            <a:avLst/>
          </a:prstGeom>
          <a:solidFill>
            <a:srgbClr val="E8772E"/>
          </a:solidFill>
          <a:ln w="12700">
            <a:solidFill>
              <a:srgbClr val="E8772E"/>
            </a:solidFill>
            <a:prstDash val="solid"/>
          </a:ln>
        </p:spPr>
      </p:sp>
      <p:sp>
        <p:nvSpPr>
          <p:cNvPr id="21" name="Text 19"/>
          <p:cNvSpPr txBox="1"/>
          <p:nvPr/>
        </p:nvSpPr>
        <p:spPr>
          <a:xfrm>
            <a:off x="731520" y="5193792"/>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2" name="Text 20"/>
          <p:cNvSpPr txBox="1"/>
          <p:nvPr/>
        </p:nvSpPr>
        <p:spPr>
          <a:xfrm>
            <a:off x="1463040" y="5029200"/>
            <a:ext cx="9997135" cy="868680"/>
          </a:xfrm>
          <a:prstGeom prst="rect">
            <a:avLst/>
          </a:prstGeom>
          <a:noFill/>
          <a:ln/>
        </p:spPr>
        <p:txBody>
          <a:bodyPr wrap="square" lIns="0" tIns="0" rIns="0" bIns="0" rtlCol="0" anchor="ctr"/>
          <a:lstStyle/>
          <a:p>
            <a:pPr indent="0" marL="0">
              <a:buNone/>
            </a:pPr>
            <a:r>
              <a:rPr lang="en-US" sz="1500" dirty="0">
                <a:solidFill>
                  <a:srgbClr val="0B3C49"/>
                </a:solidFill>
                <a:latin typeface="Calibri" pitchFamily="34" charset="0"/>
                <a:ea typeface="Calibri" pitchFamily="34" charset="-122"/>
                <a:cs typeface="Calibri" pitchFamily="34" charset="-120"/>
              </a:rPr>
              <a:t>Jede Aufgabenkarte hat einen Kernauftrag (Pflicht, 20 Min.) und eine Erweiterung (optional, 10 Min.).</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3C49"/>
                </a:solidFill>
                <a:latin typeface="Cambria" pitchFamily="34" charset="0"/>
                <a:ea typeface="Cambria" pitchFamily="34" charset="-122"/>
                <a:cs typeface="Cambria" pitchFamily="34" charset="-120"/>
              </a:rPr>
              <a:t>Die Erprobungsaufträge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194560"/>
                <a:gridCol w="8869680"/>
              </a:tblGrid>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Gruppe</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0B6E69"/>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Kernauftrag (20 Min.)</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0B6E69"/>
                    </a:solidFill>
                  </a:tcPr>
                </a:tc>
              </a:tr>
              <a:tr h="566928">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Mo · Technik</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FFFFF"/>
                    </a:solidFill>
                  </a:tcPr>
                </a:tc>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Soll-Verhalten programmieren, genau einen reversiblen Fehler einbauen, Diagnoseauftrag schreiben, gegenseitig testen</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FFFFF"/>
                    </a:solidFill>
                  </a:tcPr>
                </a:tc>
              </a:tr>
              <a:tr h="566928">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Di · Mathematik</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4F9F8"/>
                    </a:solidFill>
                  </a:tcPr>
                </a:tc>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Raster 20 cm: Wege A und B von (0|0) nach (3|2) berechnen, kürzesten begründen, Weg A fahren und messen</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4F9F8"/>
                    </a:solidFill>
                  </a:tcPr>
                </a:tc>
              </a:tr>
              <a:tr h="566928">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Mi · Physik</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FFFFF"/>
                    </a:solidFill>
                  </a:tcPr>
                </a:tc>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Zwei Versuche mit Hypothese: Ultraschall, Reflexion oder Weg-Zeit (60 U/min, fliegender Start)</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FFFFF"/>
                    </a:solidFill>
                  </a:tcPr>
                </a:tc>
              </a:tr>
              <a:tr h="566928">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Do · Informatik</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4F9F8"/>
                    </a:solidFill>
                  </a:tcPr>
                </a:tc>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Hindernis-Stopp + Linienfolger kombinieren, Schwellenwert variieren, Ablaufdiagramm</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4F9F8"/>
                    </a:solidFill>
                  </a:tcPr>
                </a:tc>
              </a:tr>
              <a:tr h="566928">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Offene Gruppe</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FFFFF"/>
                    </a:solidFill>
                  </a:tcPr>
                </a:tc>
                <a:tc>
                  <a:txBody>
                    <a:bodyPr/>
                    <a:lstStyle/>
                    <a:p>
                      <a:pPr indent="0" marL="0">
                        <a:buNone/>
                      </a:pPr>
                      <a:r>
                        <a:rPr lang="en-US" sz="1600" dirty="0">
                          <a:solidFill>
                            <a:srgbClr val="1F2A30"/>
                          </a:solidFill>
                          <a:latin typeface="Calibri" pitchFamily="34" charset="0"/>
                          <a:ea typeface="Calibri" pitchFamily="34" charset="-122"/>
                          <a:cs typeface="Calibri" pitchFamily="34" charset="-120"/>
                        </a:rPr>
                        <a:t>z. B. Deutsch: Vorgangsbeschreibung testen · Ethik: Wer entscheidet beim Ausweichen?</a:t>
                      </a:r>
                      <a:endParaRPr lang="en-US" sz="1600" dirty="0">
                        <a:latin typeface="Calibri" charset="0"/>
                        <a:ea typeface="Calibri" charset="0"/>
                        <a:cs typeface="Calibri" charset="0"/>
                      </a:endParaRPr>
                    </a:p>
                  </a:txBody>
                  <a:tcPr marL="101600" marR="101600" marT="63500" marB="63500" anchor="ctr">
                    <a:lnL w="9525" cap="flat" cmpd="sng" algn="ctr">
                      <a:solidFill>
                        <a:srgbClr val="C9DAD8"/>
                      </a:solidFill>
                      <a:prstDash val="solid"/>
                      <a:round/>
                      <a:headEnd type="none" w="med" len="med"/>
                      <a:tailEnd type="none" w="med" len="med"/>
                    </a:lnL>
                    <a:lnR w="9525" cap="flat" cmpd="sng" algn="ctr">
                      <a:solidFill>
                        <a:srgbClr val="C9DAD8"/>
                      </a:solidFill>
                      <a:prstDash val="solid"/>
                      <a:round/>
                      <a:headEnd type="none" w="med" len="med"/>
                      <a:tailEnd type="none" w="med" len="med"/>
                    </a:lnR>
                    <a:lnT w="9525" cap="flat" cmpd="sng" algn="ctr">
                      <a:solidFill>
                        <a:srgbClr val="C9DAD8"/>
                      </a:solidFill>
                      <a:prstDash val="solid"/>
                      <a:round/>
                      <a:headEnd type="none" w="med" len="med"/>
                      <a:tailEnd type="none" w="med" len="med"/>
                    </a:lnT>
                    <a:lnB w="9525" cap="flat" cmpd="sng" algn="ctr">
                      <a:solidFill>
                        <a:srgbClr val="C9DAD8"/>
                      </a:solidFill>
                      <a:prstDash val="solid"/>
                      <a:round/>
                      <a:headEnd type="none" w="med" len="med"/>
                      <a:tailEnd type="none" w="med" len="med"/>
                    </a:lnB>
                    <a:solidFill>
                      <a:srgbClr val="FFFFFF"/>
                    </a:solidFill>
                  </a:tcPr>
                </a:tc>
              </a:tr>
            </a:tbl>
          </a:graphicData>
        </a:graphic>
      </p:graphicFrame>
      <p:sp>
        <p:nvSpPr>
          <p:cNvPr id="4" name="Shape 1"/>
          <p:cNvSpPr/>
          <p:nvPr/>
        </p:nvSpPr>
        <p:spPr>
          <a:xfrm>
            <a:off x="548640" y="5029200"/>
            <a:ext cx="11094415" cy="868680"/>
          </a:xfrm>
          <a:prstGeom prst="roundRect">
            <a:avLst>
              <a:gd name="adj" fmla="val 10526"/>
            </a:avLst>
          </a:prstGeom>
          <a:solidFill>
            <a:srgbClr val="FCEBDD"/>
          </a:solidFill>
          <a:ln w="12700">
            <a:solidFill>
              <a:srgbClr val="FCEBDD"/>
            </a:solidFill>
            <a:prstDash val="solid"/>
          </a:ln>
        </p:spPr>
      </p:sp>
      <p:sp>
        <p:nvSpPr>
          <p:cNvPr id="5" name="Shape 2"/>
          <p:cNvSpPr/>
          <p:nvPr/>
        </p:nvSpPr>
        <p:spPr>
          <a:xfrm>
            <a:off x="731520" y="5193792"/>
            <a:ext cx="548640" cy="548640"/>
          </a:xfrm>
          <a:prstGeom prst="ellipse">
            <a:avLst/>
          </a:prstGeom>
          <a:solidFill>
            <a:srgbClr val="E8772E"/>
          </a:solidFill>
          <a:ln w="12700">
            <a:solidFill>
              <a:srgbClr val="E8772E"/>
            </a:solidFill>
            <a:prstDash val="solid"/>
          </a:ln>
        </p:spPr>
      </p:sp>
      <p:sp>
        <p:nvSpPr>
          <p:cNvPr id="6" name="Text 3"/>
          <p:cNvSpPr txBox="1"/>
          <p:nvPr/>
        </p:nvSpPr>
        <p:spPr>
          <a:xfrm>
            <a:off x="731520" y="5193792"/>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7" name="Text 4"/>
          <p:cNvSpPr txBox="1"/>
          <p:nvPr/>
        </p:nvSpPr>
        <p:spPr>
          <a:xfrm>
            <a:off x="1463040" y="5029200"/>
            <a:ext cx="9997135" cy="868680"/>
          </a:xfrm>
          <a:prstGeom prst="rect">
            <a:avLst/>
          </a:prstGeom>
          <a:noFill/>
          <a:ln/>
        </p:spPr>
        <p:txBody>
          <a:bodyPr wrap="square" lIns="0" tIns="0" rIns="0" bIns="0" rtlCol="0" anchor="ctr"/>
          <a:lstStyle/>
          <a:p>
            <a:pPr indent="0" marL="0">
              <a:buNone/>
            </a:pPr>
            <a:r>
              <a:rPr lang="en-US" sz="1500" dirty="0">
                <a:solidFill>
                  <a:srgbClr val="0B3C49"/>
                </a:solidFill>
                <a:latin typeface="Calibri" pitchFamily="34" charset="0"/>
                <a:ea typeface="Calibri" pitchFamily="34" charset="-122"/>
                <a:cs typeface="Calibri" pitchFamily="34" charset="-120"/>
              </a:rPr>
              <a:t>Sicherheit: Hardware nur im ausgeschalteten Zustand verändern, keine Eingriffe am Akku, Fahrten am Boden.</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3C49"/>
                </a:solidFill>
                <a:latin typeface="Cambria" pitchFamily="34" charset="0"/>
                <a:ea typeface="Cambria" pitchFamily="34" charset="-122"/>
                <a:cs typeface="Cambria" pitchFamily="34" charset="-120"/>
              </a:rPr>
              <a:t>Impulsfragen während der Erprobung</a:t>
            </a:r>
            <a:endParaRPr lang="en-US" sz="3200" dirty="0"/>
          </a:p>
        </p:txBody>
      </p:sp>
      <p:sp>
        <p:nvSpPr>
          <p:cNvPr id="3" name="Shape 1"/>
          <p:cNvSpPr/>
          <p:nvPr/>
        </p:nvSpPr>
        <p:spPr>
          <a:xfrm>
            <a:off x="548640" y="1325880"/>
            <a:ext cx="2533574" cy="4480560"/>
          </a:xfrm>
          <a:prstGeom prst="roundRect">
            <a:avLst>
              <a:gd name="adj" fmla="val 4331"/>
            </a:avLst>
          </a:prstGeom>
          <a:solidFill>
            <a:srgbClr val="E6F2F1"/>
          </a:solidFill>
          <a:ln w="12700">
            <a:solidFill>
              <a:srgbClr val="E6F2F1"/>
            </a:solidFill>
            <a:prstDash val="solid"/>
          </a:ln>
        </p:spPr>
      </p:sp>
      <p:sp>
        <p:nvSpPr>
          <p:cNvPr id="4" name="Shape 2"/>
          <p:cNvSpPr/>
          <p:nvPr/>
        </p:nvSpPr>
        <p:spPr>
          <a:xfrm>
            <a:off x="777240" y="1554480"/>
            <a:ext cx="548640" cy="548640"/>
          </a:xfrm>
          <a:prstGeom prst="ellipse">
            <a:avLst/>
          </a:prstGeom>
          <a:solidFill>
            <a:srgbClr val="0B6E69"/>
          </a:solidFill>
          <a:ln w="12700">
            <a:solidFill>
              <a:srgbClr val="0B6E69"/>
            </a:solidFill>
            <a:prstDash val="solid"/>
          </a:ln>
        </p:spPr>
      </p:sp>
      <p:sp>
        <p:nvSpPr>
          <p:cNvPr id="5" name="Text 3"/>
          <p:cNvSpPr txBox="1"/>
          <p:nvPr/>
        </p:nvSpPr>
        <p:spPr>
          <a:xfrm>
            <a:off x="777240" y="15544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463040" y="1554480"/>
            <a:ext cx="1436294" cy="548640"/>
          </a:xfrm>
          <a:prstGeom prst="rect">
            <a:avLst/>
          </a:prstGeom>
          <a:noFill/>
          <a:ln/>
        </p:spPr>
        <p:txBody>
          <a:bodyPr wrap="square" lIns="0" tIns="0" rIns="0" bIns="0" rtlCol="0" anchor="ctr"/>
          <a:lstStyle/>
          <a:p>
            <a:pPr indent="0" marL="0">
              <a:buNone/>
            </a:pPr>
            <a:r>
              <a:rPr lang="en-US" sz="1800" b="1" dirty="0">
                <a:solidFill>
                  <a:srgbClr val="0B3C49"/>
                </a:solidFill>
                <a:latin typeface="Calibri" pitchFamily="34" charset="0"/>
                <a:ea typeface="Calibri" pitchFamily="34" charset="-122"/>
                <a:cs typeface="Calibri" pitchFamily="34" charset="-120"/>
              </a:rPr>
              <a:t>Zeit</a:t>
            </a:r>
            <a:endParaRPr lang="en-US" sz="1800" dirty="0"/>
          </a:p>
        </p:txBody>
      </p:sp>
      <p:sp>
        <p:nvSpPr>
          <p:cNvPr id="7" name="Text 5"/>
          <p:cNvSpPr txBox="1"/>
          <p:nvPr/>
        </p:nvSpPr>
        <p:spPr>
          <a:xfrm>
            <a:off x="822960" y="2240280"/>
            <a:ext cx="1984934" cy="3383280"/>
          </a:xfrm>
          <a:prstGeom prst="rect">
            <a:avLst/>
          </a:prstGeom>
          <a:noFill/>
          <a:ln/>
        </p:spPr>
        <p:txBody>
          <a:bodyPr wrap="square" lIns="0" tIns="0" rIns="0" bIns="0" rtlCol="0" anchor="t"/>
          <a:lstStyle/>
          <a:p>
            <a:pPr indent="0" marL="0">
              <a:buNone/>
            </a:pPr>
            <a:r>
              <a:rPr lang="en-US" sz="1700" dirty="0">
                <a:solidFill>
                  <a:srgbClr val="1F2A30"/>
                </a:solidFill>
                <a:latin typeface="Calibri" pitchFamily="34" charset="0"/>
                <a:ea typeface="Calibri" pitchFamily="34" charset="-122"/>
                <a:cs typeface="Calibri" pitchFamily="34" charset="-120"/>
              </a:rPr>
              <a:t>Welcher Schritt hat am längsten gedauert? Wie lange bräuchte Ihre Klasse?</a:t>
            </a:r>
            <a:endParaRPr lang="en-US" sz="1700" dirty="0"/>
          </a:p>
        </p:txBody>
      </p:sp>
      <p:sp>
        <p:nvSpPr>
          <p:cNvPr id="8" name="Shape 6"/>
          <p:cNvSpPr/>
          <p:nvPr/>
        </p:nvSpPr>
        <p:spPr>
          <a:xfrm>
            <a:off x="3402254" y="1325880"/>
            <a:ext cx="2533574" cy="4480560"/>
          </a:xfrm>
          <a:prstGeom prst="roundRect">
            <a:avLst>
              <a:gd name="adj" fmla="val 4331"/>
            </a:avLst>
          </a:prstGeom>
          <a:solidFill>
            <a:srgbClr val="E6F2F1"/>
          </a:solidFill>
          <a:ln w="12700">
            <a:solidFill>
              <a:srgbClr val="E6F2F1"/>
            </a:solidFill>
            <a:prstDash val="solid"/>
          </a:ln>
        </p:spPr>
      </p:sp>
      <p:sp>
        <p:nvSpPr>
          <p:cNvPr id="9" name="Shape 7"/>
          <p:cNvSpPr/>
          <p:nvPr/>
        </p:nvSpPr>
        <p:spPr>
          <a:xfrm>
            <a:off x="3630854" y="1554480"/>
            <a:ext cx="548640" cy="548640"/>
          </a:xfrm>
          <a:prstGeom prst="ellipse">
            <a:avLst/>
          </a:prstGeom>
          <a:solidFill>
            <a:srgbClr val="0B6E69"/>
          </a:solidFill>
          <a:ln w="12700">
            <a:solidFill>
              <a:srgbClr val="0B6E69"/>
            </a:solidFill>
            <a:prstDash val="solid"/>
          </a:ln>
        </p:spPr>
      </p:sp>
      <p:sp>
        <p:nvSpPr>
          <p:cNvPr id="10" name="Text 8"/>
          <p:cNvSpPr txBox="1"/>
          <p:nvPr/>
        </p:nvSpPr>
        <p:spPr>
          <a:xfrm>
            <a:off x="3630854" y="15544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Text 9"/>
          <p:cNvSpPr txBox="1"/>
          <p:nvPr/>
        </p:nvSpPr>
        <p:spPr>
          <a:xfrm>
            <a:off x="4316654" y="1554480"/>
            <a:ext cx="1436294" cy="548640"/>
          </a:xfrm>
          <a:prstGeom prst="rect">
            <a:avLst/>
          </a:prstGeom>
          <a:noFill/>
          <a:ln/>
        </p:spPr>
        <p:txBody>
          <a:bodyPr wrap="square" lIns="0" tIns="0" rIns="0" bIns="0" rtlCol="0" anchor="ctr"/>
          <a:lstStyle/>
          <a:p>
            <a:pPr indent="0" marL="0">
              <a:buNone/>
            </a:pPr>
            <a:r>
              <a:rPr lang="en-US" sz="1800" b="1" dirty="0">
                <a:solidFill>
                  <a:srgbClr val="0B3C49"/>
                </a:solidFill>
                <a:latin typeface="Calibri" pitchFamily="34" charset="0"/>
                <a:ea typeface="Calibri" pitchFamily="34" charset="-122"/>
                <a:cs typeface="Calibri" pitchFamily="34" charset="-120"/>
              </a:rPr>
              <a:t>Vorwissen</a:t>
            </a:r>
            <a:endParaRPr lang="en-US" sz="1800" dirty="0"/>
          </a:p>
        </p:txBody>
      </p:sp>
      <p:sp>
        <p:nvSpPr>
          <p:cNvPr id="12" name="Text 10"/>
          <p:cNvSpPr txBox="1"/>
          <p:nvPr/>
        </p:nvSpPr>
        <p:spPr>
          <a:xfrm>
            <a:off x="3676574" y="2240280"/>
            <a:ext cx="1984934" cy="3383280"/>
          </a:xfrm>
          <a:prstGeom prst="rect">
            <a:avLst/>
          </a:prstGeom>
          <a:noFill/>
          <a:ln/>
        </p:spPr>
        <p:txBody>
          <a:bodyPr wrap="square" lIns="0" tIns="0" rIns="0" bIns="0" rtlCol="0" anchor="t"/>
          <a:lstStyle/>
          <a:p>
            <a:pPr indent="0" marL="0">
              <a:buNone/>
            </a:pPr>
            <a:r>
              <a:rPr lang="en-US" sz="1700" dirty="0">
                <a:solidFill>
                  <a:srgbClr val="1F2A30"/>
                </a:solidFill>
                <a:latin typeface="Calibri" pitchFamily="34" charset="0"/>
                <a:ea typeface="Calibri" pitchFamily="34" charset="-122"/>
                <a:cs typeface="Calibri" pitchFamily="34" charset="-120"/>
              </a:rPr>
              <a:t>Was müssen die Schülerinnen und Schüler schon können? Woher kommt das in der Woche?</a:t>
            </a:r>
            <a:endParaRPr lang="en-US" sz="1700" dirty="0"/>
          </a:p>
        </p:txBody>
      </p:sp>
      <p:sp>
        <p:nvSpPr>
          <p:cNvPr id="13" name="Shape 11"/>
          <p:cNvSpPr/>
          <p:nvPr/>
        </p:nvSpPr>
        <p:spPr>
          <a:xfrm>
            <a:off x="6255868" y="1325880"/>
            <a:ext cx="2533574" cy="4480560"/>
          </a:xfrm>
          <a:prstGeom prst="roundRect">
            <a:avLst>
              <a:gd name="adj" fmla="val 4331"/>
            </a:avLst>
          </a:prstGeom>
          <a:solidFill>
            <a:srgbClr val="E6F2F1"/>
          </a:solidFill>
          <a:ln w="12700">
            <a:solidFill>
              <a:srgbClr val="E6F2F1"/>
            </a:solidFill>
            <a:prstDash val="solid"/>
          </a:ln>
        </p:spPr>
      </p:sp>
      <p:sp>
        <p:nvSpPr>
          <p:cNvPr id="14" name="Shape 12"/>
          <p:cNvSpPr/>
          <p:nvPr/>
        </p:nvSpPr>
        <p:spPr>
          <a:xfrm>
            <a:off x="6484468" y="1554480"/>
            <a:ext cx="548640" cy="548640"/>
          </a:xfrm>
          <a:prstGeom prst="ellipse">
            <a:avLst/>
          </a:prstGeom>
          <a:solidFill>
            <a:srgbClr val="0B6E69"/>
          </a:solidFill>
          <a:ln w="12700">
            <a:solidFill>
              <a:srgbClr val="0B6E69"/>
            </a:solidFill>
            <a:prstDash val="solid"/>
          </a:ln>
        </p:spPr>
      </p:sp>
      <p:sp>
        <p:nvSpPr>
          <p:cNvPr id="15" name="Text 13"/>
          <p:cNvSpPr txBox="1"/>
          <p:nvPr/>
        </p:nvSpPr>
        <p:spPr>
          <a:xfrm>
            <a:off x="6484468" y="15544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7170268" y="1554480"/>
            <a:ext cx="1436294" cy="548640"/>
          </a:xfrm>
          <a:prstGeom prst="rect">
            <a:avLst/>
          </a:prstGeom>
          <a:noFill/>
          <a:ln/>
        </p:spPr>
        <p:txBody>
          <a:bodyPr wrap="square" lIns="0" tIns="0" rIns="0" bIns="0" rtlCol="0" anchor="ctr"/>
          <a:lstStyle/>
          <a:p>
            <a:pPr indent="0" marL="0">
              <a:buNone/>
            </a:pPr>
            <a:r>
              <a:rPr lang="en-US" sz="1800" b="1" dirty="0">
                <a:solidFill>
                  <a:srgbClr val="0B3C49"/>
                </a:solidFill>
                <a:latin typeface="Calibri" pitchFamily="34" charset="0"/>
                <a:ea typeface="Calibri" pitchFamily="34" charset="-122"/>
                <a:cs typeface="Calibri" pitchFamily="34" charset="-120"/>
              </a:rPr>
              <a:t>Fachliches Ergebnis</a:t>
            </a:r>
            <a:endParaRPr lang="en-US" sz="1800" dirty="0"/>
          </a:p>
        </p:txBody>
      </p:sp>
      <p:sp>
        <p:nvSpPr>
          <p:cNvPr id="17" name="Text 15"/>
          <p:cNvSpPr txBox="1"/>
          <p:nvPr/>
        </p:nvSpPr>
        <p:spPr>
          <a:xfrm>
            <a:off x="6530188" y="2240280"/>
            <a:ext cx="1984934" cy="3383280"/>
          </a:xfrm>
          <a:prstGeom prst="rect">
            <a:avLst/>
          </a:prstGeom>
          <a:noFill/>
          <a:ln/>
        </p:spPr>
        <p:txBody>
          <a:bodyPr wrap="square" lIns="0" tIns="0" rIns="0" bIns="0" rtlCol="0" anchor="t"/>
          <a:lstStyle/>
          <a:p>
            <a:pPr indent="0" marL="0">
              <a:buNone/>
            </a:pPr>
            <a:r>
              <a:rPr lang="en-US" sz="1700" dirty="0">
                <a:solidFill>
                  <a:srgbClr val="1F2A30"/>
                </a:solidFill>
                <a:latin typeface="Calibri" pitchFamily="34" charset="0"/>
                <a:ea typeface="Calibri" pitchFamily="34" charset="-122"/>
                <a:cs typeface="Calibri" pitchFamily="34" charset="-120"/>
              </a:rPr>
              <a:t>Was wird hier gelernt – unabhängig davon, dass der Roboter fährt?</a:t>
            </a:r>
            <a:endParaRPr lang="en-US" sz="1700" dirty="0"/>
          </a:p>
        </p:txBody>
      </p:sp>
      <p:sp>
        <p:nvSpPr>
          <p:cNvPr id="18" name="Shape 16"/>
          <p:cNvSpPr/>
          <p:nvPr/>
        </p:nvSpPr>
        <p:spPr>
          <a:xfrm>
            <a:off x="9109481" y="1325880"/>
            <a:ext cx="2533574" cy="4480560"/>
          </a:xfrm>
          <a:prstGeom prst="roundRect">
            <a:avLst>
              <a:gd name="adj" fmla="val 4331"/>
            </a:avLst>
          </a:prstGeom>
          <a:solidFill>
            <a:srgbClr val="E6F2F1"/>
          </a:solidFill>
          <a:ln w="12700">
            <a:solidFill>
              <a:srgbClr val="E6F2F1"/>
            </a:solidFill>
            <a:prstDash val="solid"/>
          </a:ln>
        </p:spPr>
      </p:sp>
      <p:sp>
        <p:nvSpPr>
          <p:cNvPr id="19" name="Shape 17"/>
          <p:cNvSpPr/>
          <p:nvPr/>
        </p:nvSpPr>
        <p:spPr>
          <a:xfrm>
            <a:off x="9338081" y="1554480"/>
            <a:ext cx="548640" cy="548640"/>
          </a:xfrm>
          <a:prstGeom prst="ellipse">
            <a:avLst/>
          </a:prstGeom>
          <a:solidFill>
            <a:srgbClr val="0B6E69"/>
          </a:solidFill>
          <a:ln w="12700">
            <a:solidFill>
              <a:srgbClr val="0B6E69"/>
            </a:solidFill>
            <a:prstDash val="solid"/>
          </a:ln>
        </p:spPr>
      </p:sp>
      <p:sp>
        <p:nvSpPr>
          <p:cNvPr id="20" name="Text 18"/>
          <p:cNvSpPr txBox="1"/>
          <p:nvPr/>
        </p:nvSpPr>
        <p:spPr>
          <a:xfrm>
            <a:off x="9338081" y="15544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1" name="Text 19"/>
          <p:cNvSpPr txBox="1"/>
          <p:nvPr/>
        </p:nvSpPr>
        <p:spPr>
          <a:xfrm>
            <a:off x="10023881" y="1554480"/>
            <a:ext cx="1436294" cy="548640"/>
          </a:xfrm>
          <a:prstGeom prst="rect">
            <a:avLst/>
          </a:prstGeom>
          <a:noFill/>
          <a:ln/>
        </p:spPr>
        <p:txBody>
          <a:bodyPr wrap="square" lIns="0" tIns="0" rIns="0" bIns="0" rtlCol="0" anchor="ctr"/>
          <a:lstStyle/>
          <a:p>
            <a:pPr indent="0" marL="0">
              <a:buNone/>
            </a:pPr>
            <a:r>
              <a:rPr lang="en-US" sz="1800" b="1" dirty="0">
                <a:solidFill>
                  <a:srgbClr val="0B3C49"/>
                </a:solidFill>
                <a:latin typeface="Calibri" pitchFamily="34" charset="0"/>
                <a:ea typeface="Calibri" pitchFamily="34" charset="-122"/>
                <a:cs typeface="Calibri" pitchFamily="34" charset="-120"/>
              </a:rPr>
              <a:t>Lernhürde</a:t>
            </a:r>
            <a:endParaRPr lang="en-US" sz="1800" dirty="0"/>
          </a:p>
        </p:txBody>
      </p:sp>
      <p:sp>
        <p:nvSpPr>
          <p:cNvPr id="22" name="Text 20"/>
          <p:cNvSpPr txBox="1"/>
          <p:nvPr/>
        </p:nvSpPr>
        <p:spPr>
          <a:xfrm>
            <a:off x="9383801" y="2240280"/>
            <a:ext cx="1984934" cy="3383280"/>
          </a:xfrm>
          <a:prstGeom prst="rect">
            <a:avLst/>
          </a:prstGeom>
          <a:noFill/>
          <a:ln/>
        </p:spPr>
        <p:txBody>
          <a:bodyPr wrap="square" lIns="0" tIns="0" rIns="0" bIns="0" rtlCol="0" anchor="t"/>
          <a:lstStyle/>
          <a:p>
            <a:pPr indent="0" marL="0">
              <a:buNone/>
            </a:pPr>
            <a:r>
              <a:rPr lang="en-US" sz="1700" dirty="0">
                <a:solidFill>
                  <a:srgbClr val="1F2A30"/>
                </a:solidFill>
                <a:latin typeface="Calibri" pitchFamily="34" charset="0"/>
                <a:ea typeface="Calibri" pitchFamily="34" charset="-122"/>
                <a:cs typeface="Calibri" pitchFamily="34" charset="-120"/>
              </a:rPr>
              <a:t>Wo würden schwächere Lernende hängen bleiben? Was wäre die passende Hilfe?</a:t>
            </a:r>
            <a:endParaRPr lang="en-US" sz="17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3C49"/>
                </a:solidFill>
                <a:latin typeface="Cambria" pitchFamily="34" charset="0"/>
                <a:ea typeface="Cambria" pitchFamily="34" charset="-122"/>
                <a:cs typeface="Cambria" pitchFamily="34" charset="-120"/>
              </a:rPr>
              <a:t>Die Planungsvorlage: sieben Pflichtfelder</a:t>
            </a:r>
            <a:endParaRPr lang="en-US" sz="3200" dirty="0"/>
          </a:p>
        </p:txBody>
      </p:sp>
      <p:sp>
        <p:nvSpPr>
          <p:cNvPr id="3" name="Shape 1"/>
          <p:cNvSpPr/>
          <p:nvPr/>
        </p:nvSpPr>
        <p:spPr>
          <a:xfrm>
            <a:off x="548640" y="1325880"/>
            <a:ext cx="2602154" cy="2194560"/>
          </a:xfrm>
          <a:prstGeom prst="roundRect">
            <a:avLst>
              <a:gd name="adj" fmla="val 3333"/>
            </a:avLst>
          </a:prstGeom>
          <a:solidFill>
            <a:srgbClr val="E6F2F1"/>
          </a:solidFill>
          <a:ln w="12700">
            <a:solidFill>
              <a:srgbClr val="E6F2F1"/>
            </a:solidFill>
            <a:prstDash val="solid"/>
          </a:ln>
        </p:spPr>
      </p:sp>
      <p:sp>
        <p:nvSpPr>
          <p:cNvPr id="4" name="Shape 2"/>
          <p:cNvSpPr/>
          <p:nvPr/>
        </p:nvSpPr>
        <p:spPr>
          <a:xfrm>
            <a:off x="685800" y="1463040"/>
            <a:ext cx="457200" cy="457200"/>
          </a:xfrm>
          <a:prstGeom prst="ellipse">
            <a:avLst/>
          </a:prstGeom>
          <a:solidFill>
            <a:srgbClr val="0B6E69"/>
          </a:solidFill>
          <a:ln w="12700">
            <a:solidFill>
              <a:srgbClr val="0B6E69"/>
            </a:solidFill>
            <a:prstDash val="solid"/>
          </a:ln>
        </p:spPr>
      </p:sp>
      <p:sp>
        <p:nvSpPr>
          <p:cNvPr id="5" name="Text 3"/>
          <p:cNvSpPr txBox="1"/>
          <p:nvPr/>
        </p:nvSpPr>
        <p:spPr>
          <a:xfrm>
            <a:off x="685800" y="1463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80160" y="1435608"/>
            <a:ext cx="1733474" cy="50292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Lernziel</a:t>
            </a:r>
            <a:endParaRPr lang="en-US" sz="1500" dirty="0"/>
          </a:p>
        </p:txBody>
      </p:sp>
      <p:sp>
        <p:nvSpPr>
          <p:cNvPr id="7" name="Text 5"/>
          <p:cNvSpPr txBox="1"/>
          <p:nvPr/>
        </p:nvSpPr>
        <p:spPr>
          <a:xfrm>
            <a:off x="731520" y="1984248"/>
            <a:ext cx="2236394" cy="1463040"/>
          </a:xfrm>
          <a:prstGeom prst="rect">
            <a:avLst/>
          </a:prstGeom>
          <a:noFill/>
          <a:ln/>
        </p:spPr>
        <p:txBody>
          <a:bodyPr wrap="square" lIns="0" tIns="0" rIns="0" bIns="0" rtlCol="0" anchor="t"/>
          <a:lstStyle/>
          <a:p>
            <a:pPr indent="0" marL="0">
              <a:buNone/>
            </a:pPr>
            <a:r>
              <a:rPr lang="en-US" sz="1500" dirty="0">
                <a:solidFill>
                  <a:srgbClr val="1F2A30"/>
                </a:solidFill>
                <a:latin typeface="Calibri" pitchFamily="34" charset="0"/>
                <a:ea typeface="Calibri" pitchFamily="34" charset="-122"/>
                <a:cs typeface="Calibri" pitchFamily="34" charset="-120"/>
              </a:rPr>
              <a:t>fachlich und überprüfbar (Operator + Inhalt)</a:t>
            </a:r>
            <a:endParaRPr lang="en-US" sz="1500" dirty="0"/>
          </a:p>
        </p:txBody>
      </p:sp>
      <p:sp>
        <p:nvSpPr>
          <p:cNvPr id="8" name="Shape 6"/>
          <p:cNvSpPr/>
          <p:nvPr/>
        </p:nvSpPr>
        <p:spPr>
          <a:xfrm>
            <a:off x="3379394" y="1325880"/>
            <a:ext cx="2602154" cy="2194560"/>
          </a:xfrm>
          <a:prstGeom prst="roundRect">
            <a:avLst>
              <a:gd name="adj" fmla="val 3333"/>
            </a:avLst>
          </a:prstGeom>
          <a:solidFill>
            <a:srgbClr val="E6F2F1"/>
          </a:solidFill>
          <a:ln w="12700">
            <a:solidFill>
              <a:srgbClr val="E6F2F1"/>
            </a:solidFill>
            <a:prstDash val="solid"/>
          </a:ln>
        </p:spPr>
      </p:sp>
      <p:sp>
        <p:nvSpPr>
          <p:cNvPr id="9" name="Shape 7"/>
          <p:cNvSpPr/>
          <p:nvPr/>
        </p:nvSpPr>
        <p:spPr>
          <a:xfrm>
            <a:off x="3516554" y="1463040"/>
            <a:ext cx="457200" cy="457200"/>
          </a:xfrm>
          <a:prstGeom prst="ellipse">
            <a:avLst/>
          </a:prstGeom>
          <a:solidFill>
            <a:srgbClr val="0B6E69"/>
          </a:solidFill>
          <a:ln w="12700">
            <a:solidFill>
              <a:srgbClr val="0B6E69"/>
            </a:solidFill>
            <a:prstDash val="solid"/>
          </a:ln>
        </p:spPr>
      </p:sp>
      <p:sp>
        <p:nvSpPr>
          <p:cNvPr id="10" name="Text 8"/>
          <p:cNvSpPr txBox="1"/>
          <p:nvPr/>
        </p:nvSpPr>
        <p:spPr>
          <a:xfrm>
            <a:off x="3516554" y="1463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4110914" y="1435608"/>
            <a:ext cx="1733474" cy="50292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Rolle des mBot2</a:t>
            </a:r>
            <a:endParaRPr lang="en-US" sz="1500" dirty="0"/>
          </a:p>
        </p:txBody>
      </p:sp>
      <p:sp>
        <p:nvSpPr>
          <p:cNvPr id="12" name="Text 10"/>
          <p:cNvSpPr txBox="1"/>
          <p:nvPr/>
        </p:nvSpPr>
        <p:spPr>
          <a:xfrm>
            <a:off x="3562274" y="1984248"/>
            <a:ext cx="2236394" cy="1463040"/>
          </a:xfrm>
          <a:prstGeom prst="rect">
            <a:avLst/>
          </a:prstGeom>
          <a:noFill/>
          <a:ln/>
        </p:spPr>
        <p:txBody>
          <a:bodyPr wrap="square" lIns="0" tIns="0" rIns="0" bIns="0" rtlCol="0" anchor="t"/>
          <a:lstStyle/>
          <a:p>
            <a:pPr indent="0" marL="0">
              <a:buNone/>
            </a:pPr>
            <a:r>
              <a:rPr lang="en-US" sz="1500" dirty="0">
                <a:solidFill>
                  <a:srgbClr val="1F2A30"/>
                </a:solidFill>
                <a:latin typeface="Calibri" pitchFamily="34" charset="0"/>
                <a:ea typeface="Calibri" pitchFamily="34" charset="-122"/>
                <a:cs typeface="Calibri" pitchFamily="34" charset="-120"/>
              </a:rPr>
              <a:t>Was wird durch ihn möglich oder besser?</a:t>
            </a:r>
            <a:endParaRPr lang="en-US" sz="1500" dirty="0"/>
          </a:p>
        </p:txBody>
      </p:sp>
      <p:sp>
        <p:nvSpPr>
          <p:cNvPr id="13" name="Shape 11"/>
          <p:cNvSpPr/>
          <p:nvPr/>
        </p:nvSpPr>
        <p:spPr>
          <a:xfrm>
            <a:off x="6210148" y="1325880"/>
            <a:ext cx="2602154" cy="2194560"/>
          </a:xfrm>
          <a:prstGeom prst="roundRect">
            <a:avLst>
              <a:gd name="adj" fmla="val 3333"/>
            </a:avLst>
          </a:prstGeom>
          <a:solidFill>
            <a:srgbClr val="E6F2F1"/>
          </a:solidFill>
          <a:ln w="12700">
            <a:solidFill>
              <a:srgbClr val="E6F2F1"/>
            </a:solidFill>
            <a:prstDash val="solid"/>
          </a:ln>
        </p:spPr>
      </p:sp>
      <p:sp>
        <p:nvSpPr>
          <p:cNvPr id="14" name="Shape 12"/>
          <p:cNvSpPr/>
          <p:nvPr/>
        </p:nvSpPr>
        <p:spPr>
          <a:xfrm>
            <a:off x="6347308" y="1463040"/>
            <a:ext cx="457200" cy="457200"/>
          </a:xfrm>
          <a:prstGeom prst="ellipse">
            <a:avLst/>
          </a:prstGeom>
          <a:solidFill>
            <a:srgbClr val="0B6E69"/>
          </a:solidFill>
          <a:ln w="12700">
            <a:solidFill>
              <a:srgbClr val="0B6E69"/>
            </a:solidFill>
            <a:prstDash val="solid"/>
          </a:ln>
        </p:spPr>
      </p:sp>
      <p:sp>
        <p:nvSpPr>
          <p:cNvPr id="15" name="Text 13"/>
          <p:cNvSpPr txBox="1"/>
          <p:nvPr/>
        </p:nvSpPr>
        <p:spPr>
          <a:xfrm>
            <a:off x="6347308" y="1463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6941668" y="1435608"/>
            <a:ext cx="1733474" cy="50292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Ablauf</a:t>
            </a:r>
            <a:endParaRPr lang="en-US" sz="1500" dirty="0"/>
          </a:p>
        </p:txBody>
      </p:sp>
      <p:sp>
        <p:nvSpPr>
          <p:cNvPr id="17" name="Text 15"/>
          <p:cNvSpPr txBox="1"/>
          <p:nvPr/>
        </p:nvSpPr>
        <p:spPr>
          <a:xfrm>
            <a:off x="6393028" y="1984248"/>
            <a:ext cx="2236394" cy="1463040"/>
          </a:xfrm>
          <a:prstGeom prst="rect">
            <a:avLst/>
          </a:prstGeom>
          <a:noFill/>
          <a:ln/>
        </p:spPr>
        <p:txBody>
          <a:bodyPr wrap="square" lIns="0" tIns="0" rIns="0" bIns="0" rtlCol="0" anchor="t"/>
          <a:lstStyle/>
          <a:p>
            <a:pPr indent="0" marL="0">
              <a:buNone/>
            </a:pPr>
            <a:r>
              <a:rPr lang="en-US" sz="1500" dirty="0">
                <a:solidFill>
                  <a:srgbClr val="1F2A30"/>
                </a:solidFill>
                <a:latin typeface="Calibri" pitchFamily="34" charset="0"/>
                <a:ea typeface="Calibri" pitchFamily="34" charset="-122"/>
                <a:cs typeface="Calibri" pitchFamily="34" charset="-120"/>
              </a:rPr>
              <a:t>Zeiten aus der Erprobung, mindestens 20 % Puffer</a:t>
            </a:r>
            <a:endParaRPr lang="en-US" sz="1500" dirty="0"/>
          </a:p>
        </p:txBody>
      </p:sp>
      <p:sp>
        <p:nvSpPr>
          <p:cNvPr id="18" name="Shape 16"/>
          <p:cNvSpPr/>
          <p:nvPr/>
        </p:nvSpPr>
        <p:spPr>
          <a:xfrm>
            <a:off x="9040901" y="1325880"/>
            <a:ext cx="2602154" cy="2194560"/>
          </a:xfrm>
          <a:prstGeom prst="roundRect">
            <a:avLst>
              <a:gd name="adj" fmla="val 3333"/>
            </a:avLst>
          </a:prstGeom>
          <a:solidFill>
            <a:srgbClr val="E6F2F1"/>
          </a:solidFill>
          <a:ln w="12700">
            <a:solidFill>
              <a:srgbClr val="E6F2F1"/>
            </a:solidFill>
            <a:prstDash val="solid"/>
          </a:ln>
        </p:spPr>
      </p:sp>
      <p:sp>
        <p:nvSpPr>
          <p:cNvPr id="19" name="Shape 17"/>
          <p:cNvSpPr/>
          <p:nvPr/>
        </p:nvSpPr>
        <p:spPr>
          <a:xfrm>
            <a:off x="9178061" y="1463040"/>
            <a:ext cx="457200" cy="457200"/>
          </a:xfrm>
          <a:prstGeom prst="ellipse">
            <a:avLst/>
          </a:prstGeom>
          <a:solidFill>
            <a:srgbClr val="0B6E69"/>
          </a:solidFill>
          <a:ln w="12700">
            <a:solidFill>
              <a:srgbClr val="0B6E69"/>
            </a:solidFill>
            <a:prstDash val="solid"/>
          </a:ln>
        </p:spPr>
      </p:sp>
      <p:sp>
        <p:nvSpPr>
          <p:cNvPr id="20" name="Text 18"/>
          <p:cNvSpPr txBox="1"/>
          <p:nvPr/>
        </p:nvSpPr>
        <p:spPr>
          <a:xfrm>
            <a:off x="9178061" y="1463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9772421" y="1435608"/>
            <a:ext cx="1733474" cy="50292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Hürde → Hilfe</a:t>
            </a:r>
            <a:endParaRPr lang="en-US" sz="1500" dirty="0"/>
          </a:p>
        </p:txBody>
      </p:sp>
      <p:sp>
        <p:nvSpPr>
          <p:cNvPr id="22" name="Text 20"/>
          <p:cNvSpPr txBox="1"/>
          <p:nvPr/>
        </p:nvSpPr>
        <p:spPr>
          <a:xfrm>
            <a:off x="9223781" y="1984248"/>
            <a:ext cx="2236394" cy="1463040"/>
          </a:xfrm>
          <a:prstGeom prst="rect">
            <a:avLst/>
          </a:prstGeom>
          <a:noFill/>
          <a:ln/>
        </p:spPr>
        <p:txBody>
          <a:bodyPr wrap="square" lIns="0" tIns="0" rIns="0" bIns="0" rtlCol="0" anchor="t"/>
          <a:lstStyle/>
          <a:p>
            <a:pPr indent="0" marL="0">
              <a:buNone/>
            </a:pPr>
            <a:r>
              <a:rPr lang="en-US" sz="1500" dirty="0">
                <a:solidFill>
                  <a:srgbClr val="1F2A30"/>
                </a:solidFill>
                <a:latin typeface="Calibri" pitchFamily="34" charset="0"/>
                <a:ea typeface="Calibri" pitchFamily="34" charset="-122"/>
                <a:cs typeface="Calibri" pitchFamily="34" charset="-120"/>
              </a:rPr>
              <a:t>eine konkrete Lernhürde, eine passende Hilfe</a:t>
            </a:r>
            <a:endParaRPr lang="en-US" sz="1500" dirty="0"/>
          </a:p>
        </p:txBody>
      </p:sp>
      <p:sp>
        <p:nvSpPr>
          <p:cNvPr id="23" name="Shape 21"/>
          <p:cNvSpPr/>
          <p:nvPr/>
        </p:nvSpPr>
        <p:spPr>
          <a:xfrm>
            <a:off x="548640" y="3703320"/>
            <a:ext cx="2602154" cy="2194560"/>
          </a:xfrm>
          <a:prstGeom prst="roundRect">
            <a:avLst>
              <a:gd name="adj" fmla="val 3333"/>
            </a:avLst>
          </a:prstGeom>
          <a:solidFill>
            <a:srgbClr val="E6F2F1"/>
          </a:solidFill>
          <a:ln w="12700">
            <a:solidFill>
              <a:srgbClr val="E6F2F1"/>
            </a:solidFill>
            <a:prstDash val="solid"/>
          </a:ln>
        </p:spPr>
      </p:sp>
      <p:sp>
        <p:nvSpPr>
          <p:cNvPr id="24" name="Shape 22"/>
          <p:cNvSpPr/>
          <p:nvPr/>
        </p:nvSpPr>
        <p:spPr>
          <a:xfrm>
            <a:off x="685800" y="3840480"/>
            <a:ext cx="457200" cy="457200"/>
          </a:xfrm>
          <a:prstGeom prst="ellipse">
            <a:avLst/>
          </a:prstGeom>
          <a:solidFill>
            <a:srgbClr val="0B6E69"/>
          </a:solidFill>
          <a:ln w="12700">
            <a:solidFill>
              <a:srgbClr val="0B6E69"/>
            </a:solidFill>
            <a:prstDash val="solid"/>
          </a:ln>
        </p:spPr>
      </p:sp>
      <p:sp>
        <p:nvSpPr>
          <p:cNvPr id="25" name="Text 23"/>
          <p:cNvSpPr txBox="1"/>
          <p:nvPr/>
        </p:nvSpPr>
        <p:spPr>
          <a:xfrm>
            <a:off x="685800" y="38404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6" name="Text 24"/>
          <p:cNvSpPr txBox="1"/>
          <p:nvPr/>
        </p:nvSpPr>
        <p:spPr>
          <a:xfrm>
            <a:off x="1280160" y="3813048"/>
            <a:ext cx="1733474" cy="50292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Vertiefung</a:t>
            </a:r>
            <a:endParaRPr lang="en-US" sz="1500" dirty="0"/>
          </a:p>
        </p:txBody>
      </p:sp>
      <p:sp>
        <p:nvSpPr>
          <p:cNvPr id="27" name="Text 25"/>
          <p:cNvSpPr txBox="1"/>
          <p:nvPr/>
        </p:nvSpPr>
        <p:spPr>
          <a:xfrm>
            <a:off x="731520" y="4361688"/>
            <a:ext cx="2236394" cy="1463040"/>
          </a:xfrm>
          <a:prstGeom prst="rect">
            <a:avLst/>
          </a:prstGeom>
          <a:noFill/>
          <a:ln/>
        </p:spPr>
        <p:txBody>
          <a:bodyPr wrap="square" lIns="0" tIns="0" rIns="0" bIns="0" rtlCol="0" anchor="t"/>
          <a:lstStyle/>
          <a:p>
            <a:pPr indent="0" marL="0">
              <a:buNone/>
            </a:pPr>
            <a:r>
              <a:rPr lang="en-US" sz="1500" dirty="0">
                <a:solidFill>
                  <a:srgbClr val="1F2A30"/>
                </a:solidFill>
                <a:latin typeface="Calibri" pitchFamily="34" charset="0"/>
                <a:ea typeface="Calibri" pitchFamily="34" charset="-122"/>
                <a:cs typeface="Calibri" pitchFamily="34" charset="-120"/>
              </a:rPr>
              <a:t>für Schnelle – fachlich, nicht „mehr vom Gleichen“</a:t>
            </a:r>
            <a:endParaRPr lang="en-US" sz="1500" dirty="0"/>
          </a:p>
        </p:txBody>
      </p:sp>
      <p:sp>
        <p:nvSpPr>
          <p:cNvPr id="28" name="Shape 26"/>
          <p:cNvSpPr/>
          <p:nvPr/>
        </p:nvSpPr>
        <p:spPr>
          <a:xfrm>
            <a:off x="3379394" y="3703320"/>
            <a:ext cx="2602154" cy="2194560"/>
          </a:xfrm>
          <a:prstGeom prst="roundRect">
            <a:avLst>
              <a:gd name="adj" fmla="val 3333"/>
            </a:avLst>
          </a:prstGeom>
          <a:solidFill>
            <a:srgbClr val="E6F2F1"/>
          </a:solidFill>
          <a:ln w="12700">
            <a:solidFill>
              <a:srgbClr val="E6F2F1"/>
            </a:solidFill>
            <a:prstDash val="solid"/>
          </a:ln>
        </p:spPr>
      </p:sp>
      <p:sp>
        <p:nvSpPr>
          <p:cNvPr id="29" name="Shape 27"/>
          <p:cNvSpPr/>
          <p:nvPr/>
        </p:nvSpPr>
        <p:spPr>
          <a:xfrm>
            <a:off x="3516554" y="3840480"/>
            <a:ext cx="457200" cy="457200"/>
          </a:xfrm>
          <a:prstGeom prst="ellipse">
            <a:avLst/>
          </a:prstGeom>
          <a:solidFill>
            <a:srgbClr val="0B6E69"/>
          </a:solidFill>
          <a:ln w="12700">
            <a:solidFill>
              <a:srgbClr val="0B6E69"/>
            </a:solidFill>
            <a:prstDash val="solid"/>
          </a:ln>
        </p:spPr>
      </p:sp>
      <p:sp>
        <p:nvSpPr>
          <p:cNvPr id="30" name="Text 28"/>
          <p:cNvSpPr txBox="1"/>
          <p:nvPr/>
        </p:nvSpPr>
        <p:spPr>
          <a:xfrm>
            <a:off x="3516554" y="38404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4110914" y="3813048"/>
            <a:ext cx="1733474" cy="50292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Lernnachweis</a:t>
            </a:r>
            <a:endParaRPr lang="en-US" sz="1500" dirty="0"/>
          </a:p>
        </p:txBody>
      </p:sp>
      <p:sp>
        <p:nvSpPr>
          <p:cNvPr id="32" name="Text 30"/>
          <p:cNvSpPr txBox="1"/>
          <p:nvPr/>
        </p:nvSpPr>
        <p:spPr>
          <a:xfrm>
            <a:off x="3562274" y="4361688"/>
            <a:ext cx="2236394" cy="1463040"/>
          </a:xfrm>
          <a:prstGeom prst="rect">
            <a:avLst/>
          </a:prstGeom>
          <a:noFill/>
          <a:ln/>
        </p:spPr>
        <p:txBody>
          <a:bodyPr wrap="square" lIns="0" tIns="0" rIns="0" bIns="0" rtlCol="0" anchor="t"/>
          <a:lstStyle/>
          <a:p>
            <a:pPr indent="0" marL="0">
              <a:buNone/>
            </a:pPr>
            <a:r>
              <a:rPr lang="en-US" sz="1500" dirty="0">
                <a:solidFill>
                  <a:srgbClr val="1F2A30"/>
                </a:solidFill>
                <a:latin typeface="Calibri" pitchFamily="34" charset="0"/>
                <a:ea typeface="Calibri" pitchFamily="34" charset="-122"/>
                <a:cs typeface="Calibri" pitchFamily="34" charset="-120"/>
              </a:rPr>
              <a:t>Woran sieht man den Lernzuwachs?</a:t>
            </a:r>
            <a:endParaRPr lang="en-US" sz="1500" dirty="0"/>
          </a:p>
        </p:txBody>
      </p:sp>
      <p:sp>
        <p:nvSpPr>
          <p:cNvPr id="33" name="Shape 31"/>
          <p:cNvSpPr/>
          <p:nvPr/>
        </p:nvSpPr>
        <p:spPr>
          <a:xfrm>
            <a:off x="6210148" y="3703320"/>
            <a:ext cx="2602154" cy="2194560"/>
          </a:xfrm>
          <a:prstGeom prst="roundRect">
            <a:avLst>
              <a:gd name="adj" fmla="val 3333"/>
            </a:avLst>
          </a:prstGeom>
          <a:solidFill>
            <a:srgbClr val="FCEBDD"/>
          </a:solidFill>
          <a:ln w="12700">
            <a:solidFill>
              <a:srgbClr val="FCEBDD"/>
            </a:solidFill>
            <a:prstDash val="solid"/>
          </a:ln>
        </p:spPr>
      </p:sp>
      <p:sp>
        <p:nvSpPr>
          <p:cNvPr id="34" name="Shape 32"/>
          <p:cNvSpPr/>
          <p:nvPr/>
        </p:nvSpPr>
        <p:spPr>
          <a:xfrm>
            <a:off x="6347308" y="3840480"/>
            <a:ext cx="457200" cy="457200"/>
          </a:xfrm>
          <a:prstGeom prst="ellipse">
            <a:avLst/>
          </a:prstGeom>
          <a:solidFill>
            <a:srgbClr val="E8772E"/>
          </a:solidFill>
          <a:ln w="12700">
            <a:solidFill>
              <a:srgbClr val="E8772E"/>
            </a:solidFill>
            <a:prstDash val="solid"/>
          </a:ln>
        </p:spPr>
      </p:sp>
      <p:sp>
        <p:nvSpPr>
          <p:cNvPr id="35" name="Text 33"/>
          <p:cNvSpPr txBox="1"/>
          <p:nvPr/>
        </p:nvSpPr>
        <p:spPr>
          <a:xfrm>
            <a:off x="6347308" y="38404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6" name="Text 34"/>
          <p:cNvSpPr txBox="1"/>
          <p:nvPr/>
        </p:nvSpPr>
        <p:spPr>
          <a:xfrm>
            <a:off x="6941668" y="3813048"/>
            <a:ext cx="1733474" cy="50292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Übergabe</a:t>
            </a:r>
            <a:endParaRPr lang="en-US" sz="1500" dirty="0"/>
          </a:p>
        </p:txBody>
      </p:sp>
      <p:sp>
        <p:nvSpPr>
          <p:cNvPr id="37" name="Text 35"/>
          <p:cNvSpPr txBox="1"/>
          <p:nvPr/>
        </p:nvSpPr>
        <p:spPr>
          <a:xfrm>
            <a:off x="6393028" y="4361688"/>
            <a:ext cx="2236394" cy="1463040"/>
          </a:xfrm>
          <a:prstGeom prst="rect">
            <a:avLst/>
          </a:prstGeom>
          <a:noFill/>
          <a:ln/>
        </p:spPr>
        <p:txBody>
          <a:bodyPr wrap="square" lIns="0" tIns="0" rIns="0" bIns="0" rtlCol="0" anchor="t"/>
          <a:lstStyle/>
          <a:p>
            <a:pPr indent="0" marL="0">
              <a:buNone/>
            </a:pPr>
            <a:r>
              <a:rPr lang="en-US" sz="1500" dirty="0">
                <a:solidFill>
                  <a:srgbClr val="1F2A30"/>
                </a:solidFill>
                <a:latin typeface="Calibri" pitchFamily="34" charset="0"/>
                <a:ea typeface="Calibri" pitchFamily="34" charset="-122"/>
                <a:cs typeface="Calibri" pitchFamily="34" charset="-120"/>
              </a:rPr>
              <a:t>was wir brauchen, was wir weitergeben</a:t>
            </a:r>
            <a:endParaRPr lang="en-US" sz="1500" dirty="0"/>
          </a:p>
        </p:txBody>
      </p:sp>
      <p:sp>
        <p:nvSpPr>
          <p:cNvPr id="38" name="Shape 36"/>
          <p:cNvSpPr/>
          <p:nvPr/>
        </p:nvSpPr>
        <p:spPr>
          <a:xfrm>
            <a:off x="9040901" y="3703320"/>
            <a:ext cx="2602154" cy="2194560"/>
          </a:xfrm>
          <a:prstGeom prst="roundRect">
            <a:avLst>
              <a:gd name="adj" fmla="val 3333"/>
            </a:avLst>
          </a:prstGeom>
          <a:solidFill>
            <a:srgbClr val="E6F2F1"/>
          </a:solidFill>
          <a:ln w="12700">
            <a:solidFill>
              <a:srgbClr val="E6F2F1"/>
            </a:solidFill>
            <a:prstDash val="solid"/>
          </a:ln>
        </p:spPr>
      </p:sp>
      <p:sp>
        <p:nvSpPr>
          <p:cNvPr id="39" name="Shape 37"/>
          <p:cNvSpPr/>
          <p:nvPr/>
        </p:nvSpPr>
        <p:spPr>
          <a:xfrm>
            <a:off x="9178061" y="3840480"/>
            <a:ext cx="457200" cy="457200"/>
          </a:xfrm>
          <a:prstGeom prst="ellipse">
            <a:avLst/>
          </a:prstGeom>
          <a:solidFill>
            <a:srgbClr val="0B6E69"/>
          </a:solidFill>
          <a:ln w="12700">
            <a:solidFill>
              <a:srgbClr val="0B6E69"/>
            </a:solidFill>
            <a:prstDash val="solid"/>
          </a:ln>
        </p:spPr>
      </p:sp>
      <p:sp>
        <p:nvSpPr>
          <p:cNvPr id="40" name="Text 38"/>
          <p:cNvSpPr txBox="1"/>
          <p:nvPr/>
        </p:nvSpPr>
        <p:spPr>
          <a:xfrm>
            <a:off x="9178061" y="38404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41" name="Text 39"/>
          <p:cNvSpPr txBox="1"/>
          <p:nvPr/>
        </p:nvSpPr>
        <p:spPr>
          <a:xfrm>
            <a:off x="9772421" y="3813048"/>
            <a:ext cx="1733474" cy="50292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Lehrplanbezug</a:t>
            </a:r>
            <a:endParaRPr lang="en-US" sz="1500" dirty="0"/>
          </a:p>
        </p:txBody>
      </p:sp>
      <p:sp>
        <p:nvSpPr>
          <p:cNvPr id="42" name="Text 40"/>
          <p:cNvSpPr txBox="1"/>
          <p:nvPr/>
        </p:nvSpPr>
        <p:spPr>
          <a:xfrm>
            <a:off x="9223781" y="4361688"/>
            <a:ext cx="2236394" cy="1463040"/>
          </a:xfrm>
          <a:prstGeom prst="rect">
            <a:avLst/>
          </a:prstGeom>
          <a:noFill/>
          <a:ln/>
        </p:spPr>
        <p:txBody>
          <a:bodyPr wrap="square" lIns="0" tIns="0" rIns="0" bIns="0" rtlCol="0" anchor="t"/>
          <a:lstStyle/>
          <a:p>
            <a:pPr indent="0" marL="0">
              <a:buNone/>
            </a:pPr>
            <a:r>
              <a:rPr lang="en-US" sz="1500" dirty="0">
                <a:solidFill>
                  <a:srgbClr val="1F2A30"/>
                </a:solidFill>
                <a:latin typeface="Calibri" pitchFamily="34" charset="0"/>
                <a:ea typeface="Calibri" pitchFamily="34" charset="-122"/>
                <a:cs typeface="Calibri" pitchFamily="34" charset="-120"/>
              </a:rPr>
              <a:t>Fundstelle aus dem Fachlehrplan Sachsen-Anhalt</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3C49"/>
                </a:solidFill>
                <a:latin typeface="Cambria" pitchFamily="34" charset="0"/>
                <a:ea typeface="Cambria" pitchFamily="34" charset="-122"/>
                <a:cs typeface="Cambria" pitchFamily="34" charset="-120"/>
              </a:rPr>
              <a:t>Ein gutes Lernziel</a:t>
            </a:r>
            <a:endParaRPr lang="en-US" sz="3200" dirty="0"/>
          </a:p>
        </p:txBody>
      </p:sp>
      <p:sp>
        <p:nvSpPr>
          <p:cNvPr id="3" name="Shape 1"/>
          <p:cNvSpPr/>
          <p:nvPr/>
        </p:nvSpPr>
        <p:spPr>
          <a:xfrm>
            <a:off x="548640" y="1371600"/>
            <a:ext cx="5364328" cy="3429000"/>
          </a:xfrm>
          <a:prstGeom prst="roundRect">
            <a:avLst>
              <a:gd name="adj" fmla="val 3200"/>
            </a:avLst>
          </a:prstGeom>
          <a:solidFill>
            <a:srgbClr val="EEF1F2"/>
          </a:solidFill>
          <a:ln w="12700">
            <a:solidFill>
              <a:srgbClr val="EEF1F2"/>
            </a:solidFill>
            <a:prstDash val="solid"/>
          </a:ln>
        </p:spPr>
      </p:sp>
      <p:sp>
        <p:nvSpPr>
          <p:cNvPr id="4" name="Shape 2"/>
          <p:cNvSpPr/>
          <p:nvPr/>
        </p:nvSpPr>
        <p:spPr>
          <a:xfrm>
            <a:off x="777240" y="1600200"/>
            <a:ext cx="548640" cy="548640"/>
          </a:xfrm>
          <a:prstGeom prst="ellipse">
            <a:avLst/>
          </a:prstGeom>
          <a:solidFill>
            <a:srgbClr val="7A8B91"/>
          </a:solidFill>
          <a:ln w="12700">
            <a:solidFill>
              <a:srgbClr val="7A8B91"/>
            </a:solidFill>
            <a:prstDash val="solid"/>
          </a:ln>
        </p:spPr>
      </p:sp>
      <p:sp>
        <p:nvSpPr>
          <p:cNvPr id="5" name="Text 3"/>
          <p:cNvSpPr txBox="1"/>
          <p:nvPr/>
        </p:nvSpPr>
        <p:spPr>
          <a:xfrm>
            <a:off x="777240" y="16002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6" name="Text 4"/>
          <p:cNvSpPr txBox="1"/>
          <p:nvPr/>
        </p:nvSpPr>
        <p:spPr>
          <a:xfrm>
            <a:off x="1463040" y="1600200"/>
            <a:ext cx="4267048" cy="548640"/>
          </a:xfrm>
          <a:prstGeom prst="rect">
            <a:avLst/>
          </a:prstGeom>
          <a:noFill/>
          <a:ln/>
        </p:spPr>
        <p:txBody>
          <a:bodyPr wrap="square" lIns="0" tIns="0" rIns="0" bIns="0" rtlCol="0" anchor="ctr"/>
          <a:lstStyle/>
          <a:p>
            <a:pPr indent="0" marL="0">
              <a:buNone/>
            </a:pPr>
            <a:r>
              <a:rPr lang="en-US" sz="1800" b="1" dirty="0">
                <a:solidFill>
                  <a:srgbClr val="0B3C49"/>
                </a:solidFill>
                <a:latin typeface="Calibri" pitchFamily="34" charset="0"/>
                <a:ea typeface="Calibri" pitchFamily="34" charset="-122"/>
                <a:cs typeface="Calibri" pitchFamily="34" charset="-120"/>
              </a:rPr>
              <a:t>So eher nicht</a:t>
            </a:r>
            <a:endParaRPr lang="en-US" sz="1800" dirty="0"/>
          </a:p>
        </p:txBody>
      </p:sp>
      <p:sp>
        <p:nvSpPr>
          <p:cNvPr id="7" name="Text 5"/>
          <p:cNvSpPr txBox="1"/>
          <p:nvPr/>
        </p:nvSpPr>
        <p:spPr>
          <a:xfrm>
            <a:off x="822960" y="2286000"/>
            <a:ext cx="4815688" cy="233172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rgbClr val="1F2A30"/>
                </a:solidFill>
                <a:latin typeface="Calibri" pitchFamily="34" charset="0"/>
                <a:ea typeface="Calibri" pitchFamily="34" charset="-122"/>
                <a:cs typeface="Calibri" pitchFamily="34" charset="-120"/>
              </a:rPr>
              <a:t>Die SuS programmieren den mBot2.</a:t>
            </a:r>
            <a:endParaRPr lang="en-US" sz="1600" dirty="0"/>
          </a:p>
          <a:p>
            <a:pPr marL="177800" indent="-177800">
              <a:spcAft>
                <a:spcPts val="600"/>
              </a:spcAft>
              <a:buSzPct val="100000"/>
              <a:buChar char="•"/>
            </a:pPr>
            <a:r>
              <a:rPr lang="en-US" sz="1600" dirty="0">
                <a:solidFill>
                  <a:srgbClr val="1F2A30"/>
                </a:solidFill>
                <a:latin typeface="Calibri" pitchFamily="34" charset="0"/>
                <a:ea typeface="Calibri" pitchFamily="34" charset="-122"/>
                <a:cs typeface="Calibri" pitchFamily="34" charset="-120"/>
              </a:rPr>
              <a:t>Die SuS haben Spaß an Technik.</a:t>
            </a:r>
            <a:endParaRPr lang="en-US" sz="1600" dirty="0"/>
          </a:p>
          <a:p>
            <a:pPr marL="177800" indent="-177800">
              <a:spcAft>
                <a:spcPts val="600"/>
              </a:spcAft>
              <a:buSzPct val="100000"/>
              <a:buChar char="•"/>
            </a:pPr>
            <a:r>
              <a:rPr lang="en-US" sz="1600" dirty="0">
                <a:solidFill>
                  <a:srgbClr val="1F2A30"/>
                </a:solidFill>
                <a:latin typeface="Calibri" pitchFamily="34" charset="0"/>
                <a:ea typeface="Calibri" pitchFamily="34" charset="-122"/>
                <a:cs typeface="Calibri" pitchFamily="34" charset="-120"/>
              </a:rPr>
              <a:t>Die SuS lernen Sensoren kennen.</a:t>
            </a:r>
            <a:endParaRPr lang="en-US" sz="1600" dirty="0"/>
          </a:p>
        </p:txBody>
      </p:sp>
      <p:sp>
        <p:nvSpPr>
          <p:cNvPr id="8" name="Shape 6"/>
          <p:cNvSpPr/>
          <p:nvPr/>
        </p:nvSpPr>
        <p:spPr>
          <a:xfrm>
            <a:off x="6278728" y="1371600"/>
            <a:ext cx="5364328" cy="3429000"/>
          </a:xfrm>
          <a:prstGeom prst="roundRect">
            <a:avLst>
              <a:gd name="adj" fmla="val 3200"/>
            </a:avLst>
          </a:prstGeom>
          <a:solidFill>
            <a:srgbClr val="E6F2F1"/>
          </a:solidFill>
          <a:ln w="12700">
            <a:solidFill>
              <a:srgbClr val="E6F2F1"/>
            </a:solidFill>
            <a:prstDash val="solid"/>
          </a:ln>
        </p:spPr>
      </p:sp>
      <p:sp>
        <p:nvSpPr>
          <p:cNvPr id="9" name="Shape 7"/>
          <p:cNvSpPr/>
          <p:nvPr/>
        </p:nvSpPr>
        <p:spPr>
          <a:xfrm>
            <a:off x="6507328" y="1600200"/>
            <a:ext cx="548640" cy="548640"/>
          </a:xfrm>
          <a:prstGeom prst="ellipse">
            <a:avLst/>
          </a:prstGeom>
          <a:solidFill>
            <a:srgbClr val="0B6E69"/>
          </a:solidFill>
          <a:ln w="12700">
            <a:solidFill>
              <a:srgbClr val="0B6E69"/>
            </a:solidFill>
            <a:prstDash val="solid"/>
          </a:ln>
        </p:spPr>
      </p:sp>
      <p:sp>
        <p:nvSpPr>
          <p:cNvPr id="10" name="Text 8"/>
          <p:cNvSpPr txBox="1"/>
          <p:nvPr/>
        </p:nvSpPr>
        <p:spPr>
          <a:xfrm>
            <a:off x="6507328" y="16002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11" name="Text 9"/>
          <p:cNvSpPr txBox="1"/>
          <p:nvPr/>
        </p:nvSpPr>
        <p:spPr>
          <a:xfrm>
            <a:off x="7193128" y="1600200"/>
            <a:ext cx="4267048" cy="548640"/>
          </a:xfrm>
          <a:prstGeom prst="rect">
            <a:avLst/>
          </a:prstGeom>
          <a:noFill/>
          <a:ln/>
        </p:spPr>
        <p:txBody>
          <a:bodyPr wrap="square" lIns="0" tIns="0" rIns="0" bIns="0" rtlCol="0" anchor="ctr"/>
          <a:lstStyle/>
          <a:p>
            <a:pPr indent="0" marL="0">
              <a:buNone/>
            </a:pPr>
            <a:r>
              <a:rPr lang="en-US" sz="1800" b="1" dirty="0">
                <a:solidFill>
                  <a:srgbClr val="0B3C49"/>
                </a:solidFill>
                <a:latin typeface="Calibri" pitchFamily="34" charset="0"/>
                <a:ea typeface="Calibri" pitchFamily="34" charset="-122"/>
                <a:cs typeface="Calibri" pitchFamily="34" charset="-120"/>
              </a:rPr>
              <a:t>So ist es überprüfbar</a:t>
            </a:r>
            <a:endParaRPr lang="en-US" sz="1800" dirty="0"/>
          </a:p>
        </p:txBody>
      </p:sp>
      <p:sp>
        <p:nvSpPr>
          <p:cNvPr id="12" name="Text 10"/>
          <p:cNvSpPr txBox="1"/>
          <p:nvPr/>
        </p:nvSpPr>
        <p:spPr>
          <a:xfrm>
            <a:off x="6553048" y="2286000"/>
            <a:ext cx="4815688" cy="233172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rgbClr val="1F2A30"/>
                </a:solidFill>
                <a:latin typeface="Calibri" pitchFamily="34" charset="0"/>
                <a:ea typeface="Calibri" pitchFamily="34" charset="-122"/>
                <a:cs typeface="Calibri" pitchFamily="34" charset="-120"/>
              </a:rPr>
              <a:t>Die SuS berechnen Längen von Fahrwegen im Raster und begründen den kürzesten Weg.</a:t>
            </a:r>
            <a:endParaRPr lang="en-US" sz="1600" dirty="0"/>
          </a:p>
          <a:p>
            <a:pPr marL="177800" indent="-177800">
              <a:spcAft>
                <a:spcPts val="600"/>
              </a:spcAft>
              <a:buSzPct val="100000"/>
              <a:buChar char="•"/>
            </a:pPr>
            <a:r>
              <a:rPr lang="en-US" sz="1600" dirty="0">
                <a:solidFill>
                  <a:srgbClr val="1F2A30"/>
                </a:solidFill>
                <a:latin typeface="Calibri" pitchFamily="34" charset="0"/>
                <a:ea typeface="Calibri" pitchFamily="34" charset="-122"/>
                <a:cs typeface="Calibri" pitchFamily="34" charset="-120"/>
              </a:rPr>
              <a:t>Die SuS stellen Messwerte im s-t-Diagramm dar und deuten die Steigung als Geschwindigkeit.</a:t>
            </a:r>
            <a:endParaRPr lang="en-US" sz="1600" dirty="0"/>
          </a:p>
        </p:txBody>
      </p:sp>
      <p:sp>
        <p:nvSpPr>
          <p:cNvPr id="13" name="Shape 11"/>
          <p:cNvSpPr/>
          <p:nvPr/>
        </p:nvSpPr>
        <p:spPr>
          <a:xfrm>
            <a:off x="548640" y="5029200"/>
            <a:ext cx="11094415" cy="868680"/>
          </a:xfrm>
          <a:prstGeom prst="roundRect">
            <a:avLst>
              <a:gd name="adj" fmla="val 10526"/>
            </a:avLst>
          </a:prstGeom>
          <a:solidFill>
            <a:srgbClr val="FCEBDD"/>
          </a:solidFill>
          <a:ln w="12700">
            <a:solidFill>
              <a:srgbClr val="FCEBDD"/>
            </a:solidFill>
            <a:prstDash val="solid"/>
          </a:ln>
        </p:spPr>
      </p:sp>
      <p:sp>
        <p:nvSpPr>
          <p:cNvPr id="14" name="Shape 12"/>
          <p:cNvSpPr/>
          <p:nvPr/>
        </p:nvSpPr>
        <p:spPr>
          <a:xfrm>
            <a:off x="731520" y="5193792"/>
            <a:ext cx="548640" cy="548640"/>
          </a:xfrm>
          <a:prstGeom prst="ellipse">
            <a:avLst/>
          </a:prstGeom>
          <a:solidFill>
            <a:srgbClr val="E8772E"/>
          </a:solidFill>
          <a:ln w="12700">
            <a:solidFill>
              <a:srgbClr val="E8772E"/>
            </a:solidFill>
            <a:prstDash val="solid"/>
          </a:ln>
        </p:spPr>
      </p:sp>
      <p:sp>
        <p:nvSpPr>
          <p:cNvPr id="15" name="Text 13"/>
          <p:cNvSpPr txBox="1"/>
          <p:nvPr/>
        </p:nvSpPr>
        <p:spPr>
          <a:xfrm>
            <a:off x="731520" y="5193792"/>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6" name="Text 14"/>
          <p:cNvSpPr txBox="1"/>
          <p:nvPr/>
        </p:nvSpPr>
        <p:spPr>
          <a:xfrm>
            <a:off x="1463040" y="5029200"/>
            <a:ext cx="9997135" cy="868680"/>
          </a:xfrm>
          <a:prstGeom prst="rect">
            <a:avLst/>
          </a:prstGeom>
          <a:noFill/>
          <a:ln/>
        </p:spPr>
        <p:txBody>
          <a:bodyPr wrap="square" lIns="0" tIns="0" rIns="0" bIns="0" rtlCol="0" anchor="ctr"/>
          <a:lstStyle/>
          <a:p>
            <a:pPr indent="0" marL="0">
              <a:buNone/>
            </a:pPr>
            <a:r>
              <a:rPr lang="en-US" sz="1500" dirty="0">
                <a:solidFill>
                  <a:srgbClr val="0B3C49"/>
                </a:solidFill>
                <a:latin typeface="Calibri" pitchFamily="34" charset="0"/>
                <a:ea typeface="Calibri" pitchFamily="34" charset="-122"/>
                <a:cs typeface="Calibri" pitchFamily="34" charset="-120"/>
              </a:rPr>
              <a:t>Programmieren ist am Projekttag meist Mittel, nicht Ziel – außer am Informatiktag.</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3C49"/>
                </a:solidFill>
                <a:latin typeface="Cambria" pitchFamily="34" charset="0"/>
                <a:ea typeface="Cambria" pitchFamily="34" charset="-122"/>
                <a:cs typeface="Cambria" pitchFamily="34" charset="-120"/>
              </a:rPr>
              <a:t>Ginge das auch ohne mBot2?</a:t>
            </a:r>
            <a:endParaRPr lang="en-US" sz="3200" dirty="0"/>
          </a:p>
        </p:txBody>
      </p:sp>
      <p:sp>
        <p:nvSpPr>
          <p:cNvPr id="3" name="Shape 1"/>
          <p:cNvSpPr/>
          <p:nvPr/>
        </p:nvSpPr>
        <p:spPr>
          <a:xfrm>
            <a:off x="548640" y="1371600"/>
            <a:ext cx="11094415" cy="1828800"/>
          </a:xfrm>
          <a:prstGeom prst="roundRect">
            <a:avLst>
              <a:gd name="adj" fmla="val 6000"/>
            </a:avLst>
          </a:prstGeom>
          <a:solidFill>
            <a:srgbClr val="FCEBDD"/>
          </a:solidFill>
          <a:ln w="12700">
            <a:solidFill>
              <a:srgbClr val="FCEBDD"/>
            </a:solidFill>
            <a:prstDash val="solid"/>
          </a:ln>
        </p:spPr>
      </p:sp>
      <p:sp>
        <p:nvSpPr>
          <p:cNvPr id="4" name="Text 2"/>
          <p:cNvSpPr txBox="1"/>
          <p:nvPr/>
        </p:nvSpPr>
        <p:spPr>
          <a:xfrm>
            <a:off x="1005840" y="1371600"/>
            <a:ext cx="10180015" cy="1828800"/>
          </a:xfrm>
          <a:prstGeom prst="rect">
            <a:avLst/>
          </a:prstGeom>
          <a:noFill/>
          <a:ln/>
        </p:spPr>
        <p:txBody>
          <a:bodyPr wrap="square" lIns="0" tIns="0" rIns="0" bIns="0" rtlCol="0" anchor="ctr"/>
          <a:lstStyle/>
          <a:p>
            <a:pPr indent="0" marL="0">
              <a:buNone/>
            </a:pPr>
            <a:r>
              <a:rPr lang="en-US" sz="2800" b="1" dirty="0">
                <a:solidFill>
                  <a:srgbClr val="0B3C49"/>
                </a:solidFill>
                <a:latin typeface="Cambria" pitchFamily="34" charset="0"/>
                <a:ea typeface="Cambria" pitchFamily="34" charset="-122"/>
                <a:cs typeface="Cambria" pitchFamily="34" charset="-120"/>
              </a:rPr>
              <a:t>Ein Reflexionsimpuls – kein Verbot. Entscheidend ist der begründete Bezug zum fachlichen Lernziel.</a:t>
            </a:r>
            <a:endParaRPr lang="en-US" sz="2800" dirty="0"/>
          </a:p>
        </p:txBody>
      </p:sp>
      <p:sp>
        <p:nvSpPr>
          <p:cNvPr id="5" name="Text 3"/>
          <p:cNvSpPr txBox="1"/>
          <p:nvPr/>
        </p:nvSpPr>
        <p:spPr>
          <a:xfrm>
            <a:off x="548640" y="3520440"/>
            <a:ext cx="11094415" cy="2240280"/>
          </a:xfrm>
          <a:prstGeom prst="rect">
            <a:avLst/>
          </a:prstGeom>
          <a:noFill/>
          <a:ln/>
        </p:spPr>
        <p:txBody>
          <a:bodyPr wrap="square" lIns="0" tIns="0" rIns="0" bIns="0" rtlCol="0" anchor="t"/>
          <a:lstStyle/>
          <a:p>
            <a:pPr marL="177800" indent="-177800">
              <a:spcAft>
                <a:spcPts val="800"/>
              </a:spcAft>
              <a:buSzPct val="100000"/>
              <a:buChar char="•"/>
            </a:pPr>
            <a:r>
              <a:rPr lang="en-US" sz="1700" dirty="0">
                <a:solidFill>
                  <a:srgbClr val="1F2A30"/>
                </a:solidFill>
                <a:latin typeface="Calibri" pitchFamily="34" charset="0"/>
                <a:ea typeface="Calibri" pitchFamily="34" charset="-122"/>
                <a:cs typeface="Calibri" pitchFamily="34" charset="-120"/>
              </a:rPr>
              <a:t>Mehrwert z. B. durch: steuerbare, wiederholbare Bewegung; sofortige Rückmeldung; Vergleich von Modell und Messung; fächerverbindender Projektrahmen</a:t>
            </a:r>
            <a:endParaRPr lang="en-US" sz="1700" dirty="0"/>
          </a:p>
          <a:p>
            <a:pPr marL="177800" indent="-177800">
              <a:spcAft>
                <a:spcPts val="800"/>
              </a:spcAft>
              <a:buSzPct val="100000"/>
              <a:buChar char="•"/>
            </a:pPr>
            <a:r>
              <a:rPr lang="en-US" sz="1700" dirty="0">
                <a:solidFill>
                  <a:srgbClr val="1F2A30"/>
                </a:solidFill>
                <a:latin typeface="Calibri" pitchFamily="34" charset="0"/>
                <a:ea typeface="Calibri" pitchFamily="34" charset="-122"/>
                <a:cs typeface="Calibri" pitchFamily="34" charset="-120"/>
              </a:rPr>
              <a:t>Unzureichend: Einsatz ohne Bezug zum Lernziel („weil der Roboter da ist“)</a:t>
            </a:r>
            <a:endParaRPr lang="en-US" sz="17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3C49"/>
                </a:solidFill>
                <a:latin typeface="Cambria" pitchFamily="34" charset="0"/>
                <a:ea typeface="Cambria" pitchFamily="34" charset="-122"/>
                <a:cs typeface="Cambria" pitchFamily="34" charset="-120"/>
              </a:rPr>
              <a:t>Peer-Feedback mit der Kriterienkarte</a:t>
            </a:r>
            <a:endParaRPr lang="en-US" sz="3200" dirty="0"/>
          </a:p>
        </p:txBody>
      </p:sp>
      <p:sp>
        <p:nvSpPr>
          <p:cNvPr id="3" name="Text 1"/>
          <p:cNvSpPr txBox="1"/>
          <p:nvPr/>
        </p:nvSpPr>
        <p:spPr>
          <a:xfrm>
            <a:off x="548640" y="1234440"/>
            <a:ext cx="11094415" cy="640080"/>
          </a:xfrm>
          <a:prstGeom prst="rect">
            <a:avLst/>
          </a:prstGeom>
          <a:noFill/>
          <a:ln/>
        </p:spPr>
        <p:txBody>
          <a:bodyPr wrap="square" lIns="0" tIns="0" rIns="0" bIns="0" rtlCol="0" anchor="ctr"/>
          <a:lstStyle/>
          <a:p>
            <a:pPr indent="0" marL="0">
              <a:buNone/>
            </a:pPr>
            <a:r>
              <a:rPr lang="en-US" sz="1700" dirty="0">
                <a:solidFill>
                  <a:srgbClr val="5B6B73"/>
                </a:solidFill>
                <a:latin typeface="Calibri" pitchFamily="34" charset="0"/>
                <a:ea typeface="Calibri" pitchFamily="34" charset="-122"/>
                <a:cs typeface="Calibri" pitchFamily="34" charset="-120"/>
              </a:rPr>
              <a:t>Je Gruppe: 1 Min. Live-Demo, 2–3 Min. Tagesplan. Alle anderen füllen eine Kriterienkarte aus.</a:t>
            </a:r>
            <a:endParaRPr lang="en-US" sz="1700" dirty="0"/>
          </a:p>
        </p:txBody>
      </p:sp>
      <p:sp>
        <p:nvSpPr>
          <p:cNvPr id="4" name="Shape 2"/>
          <p:cNvSpPr/>
          <p:nvPr/>
        </p:nvSpPr>
        <p:spPr>
          <a:xfrm>
            <a:off x="548640" y="1965960"/>
            <a:ext cx="5387188" cy="3840480"/>
          </a:xfrm>
          <a:prstGeom prst="roundRect">
            <a:avLst>
              <a:gd name="adj" fmla="val 2857"/>
            </a:avLst>
          </a:prstGeom>
          <a:solidFill>
            <a:srgbClr val="E6F2F1"/>
          </a:solidFill>
          <a:ln w="12700">
            <a:solidFill>
              <a:srgbClr val="E6F2F1"/>
            </a:solidFill>
            <a:prstDash val="solid"/>
          </a:ln>
        </p:spPr>
      </p:sp>
      <p:sp>
        <p:nvSpPr>
          <p:cNvPr id="5" name="Shape 3"/>
          <p:cNvSpPr/>
          <p:nvPr/>
        </p:nvSpPr>
        <p:spPr>
          <a:xfrm>
            <a:off x="777240" y="2194560"/>
            <a:ext cx="548640" cy="548640"/>
          </a:xfrm>
          <a:prstGeom prst="ellipse">
            <a:avLst/>
          </a:prstGeom>
          <a:solidFill>
            <a:srgbClr val="0B6E69"/>
          </a:solidFill>
          <a:ln w="12700">
            <a:solidFill>
              <a:srgbClr val="0B6E69"/>
            </a:solidFill>
            <a:prstDash val="solid"/>
          </a:ln>
        </p:spPr>
      </p:sp>
      <p:sp>
        <p:nvSpPr>
          <p:cNvPr id="6" name="Text 4"/>
          <p:cNvSpPr txBox="1"/>
          <p:nvPr/>
        </p:nvSpPr>
        <p:spPr>
          <a:xfrm>
            <a:off x="777240" y="21945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463040" y="2194560"/>
            <a:ext cx="4289908" cy="548640"/>
          </a:xfrm>
          <a:prstGeom prst="rect">
            <a:avLst/>
          </a:prstGeom>
          <a:noFill/>
          <a:ln/>
        </p:spPr>
        <p:txBody>
          <a:bodyPr wrap="square" lIns="0" tIns="0" rIns="0" bIns="0" rtlCol="0" anchor="ctr"/>
          <a:lstStyle/>
          <a:p>
            <a:pPr indent="0" marL="0">
              <a:buNone/>
            </a:pPr>
            <a:r>
              <a:rPr lang="en-US" sz="1800" b="1" dirty="0">
                <a:solidFill>
                  <a:srgbClr val="0B3C49"/>
                </a:solidFill>
                <a:latin typeface="Calibri" pitchFamily="34" charset="0"/>
                <a:ea typeface="Calibri" pitchFamily="34" charset="-122"/>
                <a:cs typeface="Calibri" pitchFamily="34" charset="-120"/>
              </a:rPr>
              <a:t>Kriterien</a:t>
            </a:r>
            <a:endParaRPr lang="en-US" sz="1800" dirty="0"/>
          </a:p>
        </p:txBody>
      </p:sp>
      <p:sp>
        <p:nvSpPr>
          <p:cNvPr id="8" name="Text 6"/>
          <p:cNvSpPr txBox="1"/>
          <p:nvPr/>
        </p:nvSpPr>
        <p:spPr>
          <a:xfrm>
            <a:off x="822960" y="2880360"/>
            <a:ext cx="4838548" cy="27432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rgbClr val="1F2A30"/>
                </a:solidFill>
                <a:latin typeface="Calibri" pitchFamily="34" charset="0"/>
                <a:ea typeface="Calibri" pitchFamily="34" charset="-122"/>
                <a:cs typeface="Calibri" pitchFamily="34" charset="-120"/>
              </a:rPr>
              <a:t>Lernziel klar und überprüfbar</a:t>
            </a:r>
            <a:endParaRPr lang="en-US" sz="1600" dirty="0"/>
          </a:p>
          <a:p>
            <a:pPr marL="177800" indent="-177800">
              <a:spcAft>
                <a:spcPts val="600"/>
              </a:spcAft>
              <a:buSzPct val="100000"/>
              <a:buChar char="•"/>
            </a:pPr>
            <a:r>
              <a:rPr lang="en-US" sz="1600" dirty="0">
                <a:solidFill>
                  <a:srgbClr val="1F2A30"/>
                </a:solidFill>
                <a:latin typeface="Calibri" pitchFamily="34" charset="0"/>
                <a:ea typeface="Calibri" pitchFamily="34" charset="-122"/>
                <a:cs typeface="Calibri" pitchFamily="34" charset="-120"/>
              </a:rPr>
              <a:t>Mehrwert begründet</a:t>
            </a:r>
            <a:endParaRPr lang="en-US" sz="1600" dirty="0"/>
          </a:p>
          <a:p>
            <a:pPr marL="177800" indent="-177800">
              <a:spcAft>
                <a:spcPts val="600"/>
              </a:spcAft>
              <a:buSzPct val="100000"/>
              <a:buChar char="•"/>
            </a:pPr>
            <a:r>
              <a:rPr lang="en-US" sz="1600" dirty="0">
                <a:solidFill>
                  <a:srgbClr val="1F2A30"/>
                </a:solidFill>
                <a:latin typeface="Calibri" pitchFamily="34" charset="0"/>
                <a:ea typeface="Calibri" pitchFamily="34" charset="-122"/>
                <a:cs typeface="Calibri" pitchFamily="34" charset="-120"/>
              </a:rPr>
              <a:t>Zeiten aus der Erprobung, Puffer</a:t>
            </a:r>
            <a:endParaRPr lang="en-US" sz="1600" dirty="0"/>
          </a:p>
          <a:p>
            <a:pPr marL="177800" indent="-177800">
              <a:spcAft>
                <a:spcPts val="600"/>
              </a:spcAft>
              <a:buSzPct val="100000"/>
              <a:buChar char="•"/>
            </a:pPr>
            <a:r>
              <a:rPr lang="en-US" sz="1600" dirty="0">
                <a:solidFill>
                  <a:srgbClr val="1F2A30"/>
                </a:solidFill>
                <a:latin typeface="Calibri" pitchFamily="34" charset="0"/>
                <a:ea typeface="Calibri" pitchFamily="34" charset="-122"/>
                <a:cs typeface="Calibri" pitchFamily="34" charset="-120"/>
              </a:rPr>
              <a:t>Hürde und Hilfe konkret</a:t>
            </a:r>
            <a:endParaRPr lang="en-US" sz="1600" dirty="0"/>
          </a:p>
          <a:p>
            <a:pPr marL="177800" indent="-177800">
              <a:spcAft>
                <a:spcPts val="600"/>
              </a:spcAft>
              <a:buSzPct val="100000"/>
              <a:buChar char="•"/>
            </a:pPr>
            <a:r>
              <a:rPr lang="en-US" sz="1600" dirty="0">
                <a:solidFill>
                  <a:srgbClr val="1F2A30"/>
                </a:solidFill>
                <a:latin typeface="Calibri" pitchFamily="34" charset="0"/>
                <a:ea typeface="Calibri" pitchFamily="34" charset="-122"/>
                <a:cs typeface="Calibri" pitchFamily="34" charset="-120"/>
              </a:rPr>
              <a:t>Lernnachweis, Übergabe</a:t>
            </a:r>
            <a:endParaRPr lang="en-US" sz="1600" dirty="0"/>
          </a:p>
        </p:txBody>
      </p:sp>
      <p:sp>
        <p:nvSpPr>
          <p:cNvPr id="9" name="Shape 7"/>
          <p:cNvSpPr/>
          <p:nvPr/>
        </p:nvSpPr>
        <p:spPr>
          <a:xfrm>
            <a:off x="6255868" y="1965960"/>
            <a:ext cx="5387188" cy="3840480"/>
          </a:xfrm>
          <a:prstGeom prst="roundRect">
            <a:avLst>
              <a:gd name="adj" fmla="val 2857"/>
            </a:avLst>
          </a:prstGeom>
          <a:solidFill>
            <a:srgbClr val="E6F2F1"/>
          </a:solidFill>
          <a:ln w="12700">
            <a:solidFill>
              <a:srgbClr val="E6F2F1"/>
            </a:solidFill>
            <a:prstDash val="solid"/>
          </a:ln>
        </p:spPr>
      </p:sp>
      <p:sp>
        <p:nvSpPr>
          <p:cNvPr id="10" name="Shape 8"/>
          <p:cNvSpPr/>
          <p:nvPr/>
        </p:nvSpPr>
        <p:spPr>
          <a:xfrm>
            <a:off x="6484468" y="2194560"/>
            <a:ext cx="548640" cy="548640"/>
          </a:xfrm>
          <a:prstGeom prst="ellipse">
            <a:avLst/>
          </a:prstGeom>
          <a:solidFill>
            <a:srgbClr val="E8772E"/>
          </a:solidFill>
          <a:ln w="12700">
            <a:solidFill>
              <a:srgbClr val="E8772E"/>
            </a:solidFill>
            <a:prstDash val="solid"/>
          </a:ln>
        </p:spPr>
      </p:sp>
      <p:sp>
        <p:nvSpPr>
          <p:cNvPr id="11" name="Text 9"/>
          <p:cNvSpPr txBox="1"/>
          <p:nvPr/>
        </p:nvSpPr>
        <p:spPr>
          <a:xfrm>
            <a:off x="6484468" y="21945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7170268" y="2194560"/>
            <a:ext cx="4289908" cy="548640"/>
          </a:xfrm>
          <a:prstGeom prst="rect">
            <a:avLst/>
          </a:prstGeom>
          <a:noFill/>
          <a:ln/>
        </p:spPr>
        <p:txBody>
          <a:bodyPr wrap="square" lIns="0" tIns="0" rIns="0" bIns="0" rtlCol="0" anchor="ctr"/>
          <a:lstStyle/>
          <a:p>
            <a:pPr indent="0" marL="0">
              <a:buNone/>
            </a:pPr>
            <a:r>
              <a:rPr lang="en-US" sz="1800" b="1" dirty="0">
                <a:solidFill>
                  <a:srgbClr val="0B3C49"/>
                </a:solidFill>
                <a:latin typeface="Calibri" pitchFamily="34" charset="0"/>
                <a:ea typeface="Calibri" pitchFamily="34" charset="-122"/>
                <a:cs typeface="Calibri" pitchFamily="34" charset="-120"/>
              </a:rPr>
              <a:t>Rückmeldung</a:t>
            </a:r>
            <a:endParaRPr lang="en-US" sz="1800" dirty="0"/>
          </a:p>
        </p:txBody>
      </p:sp>
      <p:sp>
        <p:nvSpPr>
          <p:cNvPr id="13" name="Text 11"/>
          <p:cNvSpPr txBox="1"/>
          <p:nvPr/>
        </p:nvSpPr>
        <p:spPr>
          <a:xfrm>
            <a:off x="6530188" y="2880360"/>
            <a:ext cx="4838548" cy="27432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rgbClr val="1F2A30"/>
                </a:solidFill>
                <a:latin typeface="Calibri" pitchFamily="34" charset="0"/>
                <a:ea typeface="Calibri" pitchFamily="34" charset="-122"/>
                <a:cs typeface="Calibri" pitchFamily="34" charset="-120"/>
              </a:rPr>
              <a:t>2 × Stärke</a:t>
            </a:r>
            <a:endParaRPr lang="en-US" sz="1600" dirty="0"/>
          </a:p>
          <a:p>
            <a:pPr marL="177800" indent="-177800">
              <a:spcAft>
                <a:spcPts val="600"/>
              </a:spcAft>
              <a:buSzPct val="100000"/>
              <a:buChar char="•"/>
            </a:pPr>
            <a:r>
              <a:rPr lang="en-US" sz="1600" dirty="0">
                <a:solidFill>
                  <a:srgbClr val="1F2A30"/>
                </a:solidFill>
                <a:latin typeface="Calibri" pitchFamily="34" charset="0"/>
                <a:ea typeface="Calibri" pitchFamily="34" charset="-122"/>
                <a:cs typeface="Calibri" pitchFamily="34" charset="-120"/>
              </a:rPr>
              <a:t>1 × Frage</a:t>
            </a:r>
            <a:endParaRPr lang="en-US" sz="1600" dirty="0"/>
          </a:p>
          <a:p>
            <a:pPr marL="177800" indent="-177800">
              <a:spcAft>
                <a:spcPts val="600"/>
              </a:spcAft>
              <a:buSzPct val="100000"/>
              <a:buChar char="•"/>
            </a:pPr>
            <a:r>
              <a:rPr lang="en-US" sz="1600" dirty="0">
                <a:solidFill>
                  <a:srgbClr val="1F2A30"/>
                </a:solidFill>
                <a:latin typeface="Calibri" pitchFamily="34" charset="0"/>
                <a:ea typeface="Calibri" pitchFamily="34" charset="-122"/>
                <a:cs typeface="Calibri" pitchFamily="34" charset="-120"/>
              </a:rPr>
              <a:t>1 × Tipp</a:t>
            </a:r>
            <a:endParaRPr lang="en-US" sz="1600" dirty="0"/>
          </a:p>
          <a:p>
            <a:pPr marL="177800" indent="-177800">
              <a:spcAft>
                <a:spcPts val="600"/>
              </a:spcAft>
              <a:buSzPct val="100000"/>
              <a:buChar char="•"/>
            </a:pPr>
            <a:r>
              <a:rPr lang="en-US" sz="1600" dirty="0">
                <a:solidFill>
                  <a:srgbClr val="1F2A30"/>
                </a:solidFill>
                <a:latin typeface="Calibri" pitchFamily="34" charset="0"/>
                <a:ea typeface="Calibri" pitchFamily="34" charset="-122"/>
                <a:cs typeface="Calibri" pitchFamily="34" charset="-120"/>
              </a:rPr>
              <a:t>konkret und auf ein Kriterium bezogen</a:t>
            </a:r>
            <a:endParaRPr lang="en-US" sz="16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rgbClr val="0B3C49"/>
                </a:solidFill>
                <a:latin typeface="Cambria" pitchFamily="34" charset="0"/>
                <a:ea typeface="Cambria" pitchFamily="34" charset="-122"/>
                <a:cs typeface="Cambria" pitchFamily="34" charset="-120"/>
              </a:rPr>
              <a:t>Übergaben: Die Woche als roter Faden</a:t>
            </a:r>
            <a:endParaRPr lang="en-US" sz="3200" dirty="0"/>
          </a:p>
        </p:txBody>
      </p:sp>
      <p:sp>
        <p:nvSpPr>
          <p:cNvPr id="3" name="Shape 1"/>
          <p:cNvSpPr/>
          <p:nvPr/>
        </p:nvSpPr>
        <p:spPr>
          <a:xfrm>
            <a:off x="548640" y="1325880"/>
            <a:ext cx="2602154" cy="3520440"/>
          </a:xfrm>
          <a:prstGeom prst="roundRect">
            <a:avLst>
              <a:gd name="adj" fmla="val 2811"/>
            </a:avLst>
          </a:prstGeom>
          <a:solidFill>
            <a:srgbClr val="E6F2F1"/>
          </a:solidFill>
          <a:ln w="12700">
            <a:solidFill>
              <a:srgbClr val="E6F2F1"/>
            </a:solidFill>
            <a:prstDash val="solid"/>
          </a:ln>
        </p:spPr>
      </p:sp>
      <p:sp>
        <p:nvSpPr>
          <p:cNvPr id="4" name="Shape 2"/>
          <p:cNvSpPr/>
          <p:nvPr/>
        </p:nvSpPr>
        <p:spPr>
          <a:xfrm>
            <a:off x="685800" y="1463040"/>
            <a:ext cx="457200" cy="457200"/>
          </a:xfrm>
          <a:prstGeom prst="ellipse">
            <a:avLst/>
          </a:prstGeom>
          <a:solidFill>
            <a:srgbClr val="0B6E69"/>
          </a:solidFill>
          <a:ln w="12700">
            <a:solidFill>
              <a:srgbClr val="0B6E69"/>
            </a:solidFill>
            <a:prstDash val="solid"/>
          </a:ln>
        </p:spPr>
      </p:sp>
      <p:sp>
        <p:nvSpPr>
          <p:cNvPr id="5" name="Text 3"/>
          <p:cNvSpPr txBox="1"/>
          <p:nvPr/>
        </p:nvSpPr>
        <p:spPr>
          <a:xfrm>
            <a:off x="685800" y="14630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Mo</a:t>
            </a:r>
            <a:endParaRPr lang="en-US" sz="1300" dirty="0"/>
          </a:p>
        </p:txBody>
      </p:sp>
      <p:sp>
        <p:nvSpPr>
          <p:cNvPr id="6" name="Text 4"/>
          <p:cNvSpPr txBox="1"/>
          <p:nvPr/>
        </p:nvSpPr>
        <p:spPr>
          <a:xfrm>
            <a:off x="1280160" y="1435608"/>
            <a:ext cx="1733474" cy="50292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 Dienstag</a:t>
            </a:r>
            <a:endParaRPr lang="en-US" sz="1500" dirty="0"/>
          </a:p>
        </p:txBody>
      </p:sp>
      <p:sp>
        <p:nvSpPr>
          <p:cNvPr id="7" name="Text 5"/>
          <p:cNvSpPr txBox="1"/>
          <p:nvPr/>
        </p:nvSpPr>
        <p:spPr>
          <a:xfrm>
            <a:off x="731520" y="1984248"/>
            <a:ext cx="2236394" cy="2788920"/>
          </a:xfrm>
          <a:prstGeom prst="rect">
            <a:avLst/>
          </a:prstGeom>
          <a:noFill/>
          <a:ln/>
        </p:spPr>
        <p:txBody>
          <a:bodyPr wrap="square" lIns="0" tIns="0" rIns="0" bIns="0" rtlCol="0" anchor="t"/>
          <a:lstStyle/>
          <a:p>
            <a:pPr indent="0" marL="0">
              <a:buNone/>
            </a:pPr>
            <a:r>
              <a:rPr lang="en-US" sz="1500" dirty="0">
                <a:solidFill>
                  <a:srgbClr val="1F2A30"/>
                </a:solidFill>
                <a:latin typeface="Calibri" pitchFamily="34" charset="0"/>
                <a:ea typeface="Calibri" pitchFamily="34" charset="-122"/>
                <a:cs typeface="Calibri" pitchFamily="34" charset="-120"/>
              </a:rPr>
              <a:t>geprüfte mBot2, Testprogramm, Prüfliste, Fehlerprotokoll</a:t>
            </a:r>
            <a:endParaRPr lang="en-US" sz="1500" dirty="0"/>
          </a:p>
        </p:txBody>
      </p:sp>
      <p:sp>
        <p:nvSpPr>
          <p:cNvPr id="8" name="Shape 6"/>
          <p:cNvSpPr/>
          <p:nvPr/>
        </p:nvSpPr>
        <p:spPr>
          <a:xfrm>
            <a:off x="3379394" y="1325880"/>
            <a:ext cx="2602154" cy="3520440"/>
          </a:xfrm>
          <a:prstGeom prst="roundRect">
            <a:avLst>
              <a:gd name="adj" fmla="val 2811"/>
            </a:avLst>
          </a:prstGeom>
          <a:solidFill>
            <a:srgbClr val="E6F2F1"/>
          </a:solidFill>
          <a:ln w="12700">
            <a:solidFill>
              <a:srgbClr val="E6F2F1"/>
            </a:solidFill>
            <a:prstDash val="solid"/>
          </a:ln>
        </p:spPr>
      </p:sp>
      <p:sp>
        <p:nvSpPr>
          <p:cNvPr id="9" name="Shape 7"/>
          <p:cNvSpPr/>
          <p:nvPr/>
        </p:nvSpPr>
        <p:spPr>
          <a:xfrm>
            <a:off x="3516554" y="1463040"/>
            <a:ext cx="457200" cy="457200"/>
          </a:xfrm>
          <a:prstGeom prst="ellipse">
            <a:avLst/>
          </a:prstGeom>
          <a:solidFill>
            <a:srgbClr val="0B6E69"/>
          </a:solidFill>
          <a:ln w="12700">
            <a:solidFill>
              <a:srgbClr val="0B6E69"/>
            </a:solidFill>
            <a:prstDash val="solid"/>
          </a:ln>
        </p:spPr>
      </p:sp>
      <p:sp>
        <p:nvSpPr>
          <p:cNvPr id="10" name="Text 8"/>
          <p:cNvSpPr txBox="1"/>
          <p:nvPr/>
        </p:nvSpPr>
        <p:spPr>
          <a:xfrm>
            <a:off x="3516554" y="14630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Di</a:t>
            </a:r>
            <a:endParaRPr lang="en-US" sz="1300" dirty="0"/>
          </a:p>
        </p:txBody>
      </p:sp>
      <p:sp>
        <p:nvSpPr>
          <p:cNvPr id="11" name="Text 9"/>
          <p:cNvSpPr txBox="1"/>
          <p:nvPr/>
        </p:nvSpPr>
        <p:spPr>
          <a:xfrm>
            <a:off x="4110914" y="1435608"/>
            <a:ext cx="1733474" cy="50292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 Mittwoch</a:t>
            </a:r>
            <a:endParaRPr lang="en-US" sz="1500" dirty="0"/>
          </a:p>
        </p:txBody>
      </p:sp>
      <p:sp>
        <p:nvSpPr>
          <p:cNvPr id="12" name="Text 10"/>
          <p:cNvSpPr txBox="1"/>
          <p:nvPr/>
        </p:nvSpPr>
        <p:spPr>
          <a:xfrm>
            <a:off x="3562274" y="1984248"/>
            <a:ext cx="2236394" cy="2788920"/>
          </a:xfrm>
          <a:prstGeom prst="rect">
            <a:avLst/>
          </a:prstGeom>
          <a:noFill/>
          <a:ln/>
        </p:spPr>
        <p:txBody>
          <a:bodyPr wrap="square" lIns="0" tIns="0" rIns="0" bIns="0" rtlCol="0" anchor="t"/>
          <a:lstStyle/>
          <a:p>
            <a:pPr indent="0" marL="0">
              <a:buNone/>
            </a:pPr>
            <a:r>
              <a:rPr lang="en-US" sz="1500" dirty="0">
                <a:solidFill>
                  <a:srgbClr val="1F2A30"/>
                </a:solidFill>
                <a:latin typeface="Calibri" pitchFamily="34" charset="0"/>
                <a:ea typeface="Calibri" pitchFamily="34" charset="-122"/>
                <a:cs typeface="Calibri" pitchFamily="34" charset="-120"/>
              </a:rPr>
              <a:t>Rasterplan, Rechnungen, gemessene Fahrabweichungen</a:t>
            </a:r>
            <a:endParaRPr lang="en-US" sz="1500" dirty="0"/>
          </a:p>
        </p:txBody>
      </p:sp>
      <p:sp>
        <p:nvSpPr>
          <p:cNvPr id="13" name="Shape 11"/>
          <p:cNvSpPr/>
          <p:nvPr/>
        </p:nvSpPr>
        <p:spPr>
          <a:xfrm>
            <a:off x="6210148" y="1325880"/>
            <a:ext cx="2602154" cy="3520440"/>
          </a:xfrm>
          <a:prstGeom prst="roundRect">
            <a:avLst>
              <a:gd name="adj" fmla="val 2811"/>
            </a:avLst>
          </a:prstGeom>
          <a:solidFill>
            <a:srgbClr val="E6F2F1"/>
          </a:solidFill>
          <a:ln w="12700">
            <a:solidFill>
              <a:srgbClr val="E6F2F1"/>
            </a:solidFill>
            <a:prstDash val="solid"/>
          </a:ln>
        </p:spPr>
      </p:sp>
      <p:sp>
        <p:nvSpPr>
          <p:cNvPr id="14" name="Shape 12"/>
          <p:cNvSpPr/>
          <p:nvPr/>
        </p:nvSpPr>
        <p:spPr>
          <a:xfrm>
            <a:off x="6347308" y="1463040"/>
            <a:ext cx="457200" cy="457200"/>
          </a:xfrm>
          <a:prstGeom prst="ellipse">
            <a:avLst/>
          </a:prstGeom>
          <a:solidFill>
            <a:srgbClr val="0B6E69"/>
          </a:solidFill>
          <a:ln w="12700">
            <a:solidFill>
              <a:srgbClr val="0B6E69"/>
            </a:solidFill>
            <a:prstDash val="solid"/>
          </a:ln>
        </p:spPr>
      </p:sp>
      <p:sp>
        <p:nvSpPr>
          <p:cNvPr id="15" name="Text 13"/>
          <p:cNvSpPr txBox="1"/>
          <p:nvPr/>
        </p:nvSpPr>
        <p:spPr>
          <a:xfrm>
            <a:off x="6347308" y="14630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a:t>
            </a:r>
            <a:endParaRPr lang="en-US" sz="1300" dirty="0"/>
          </a:p>
        </p:txBody>
      </p:sp>
      <p:sp>
        <p:nvSpPr>
          <p:cNvPr id="16" name="Text 14"/>
          <p:cNvSpPr txBox="1"/>
          <p:nvPr/>
        </p:nvSpPr>
        <p:spPr>
          <a:xfrm>
            <a:off x="6941668" y="1435608"/>
            <a:ext cx="1733474" cy="50292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 Donnerstag</a:t>
            </a:r>
            <a:endParaRPr lang="en-US" sz="1500" dirty="0"/>
          </a:p>
        </p:txBody>
      </p:sp>
      <p:sp>
        <p:nvSpPr>
          <p:cNvPr id="17" name="Text 15"/>
          <p:cNvSpPr txBox="1"/>
          <p:nvPr/>
        </p:nvSpPr>
        <p:spPr>
          <a:xfrm>
            <a:off x="6393028" y="1984248"/>
            <a:ext cx="2236394" cy="2788920"/>
          </a:xfrm>
          <a:prstGeom prst="rect">
            <a:avLst/>
          </a:prstGeom>
          <a:noFill/>
          <a:ln/>
        </p:spPr>
        <p:txBody>
          <a:bodyPr wrap="square" lIns="0" tIns="0" rIns="0" bIns="0" rtlCol="0" anchor="t"/>
          <a:lstStyle/>
          <a:p>
            <a:pPr indent="0" marL="0">
              <a:buNone/>
            </a:pPr>
            <a:r>
              <a:rPr lang="en-US" sz="1500" dirty="0">
                <a:solidFill>
                  <a:srgbClr val="1F2A30"/>
                </a:solidFill>
                <a:latin typeface="Calibri" pitchFamily="34" charset="0"/>
                <a:ea typeface="Calibri" pitchFamily="34" charset="-122"/>
                <a:cs typeface="Calibri" pitchFamily="34" charset="-120"/>
              </a:rPr>
              <a:t>Sensorwerte und begründete Schwellenwerte</a:t>
            </a:r>
            <a:endParaRPr lang="en-US" sz="1500" dirty="0"/>
          </a:p>
        </p:txBody>
      </p:sp>
      <p:sp>
        <p:nvSpPr>
          <p:cNvPr id="18" name="Shape 16"/>
          <p:cNvSpPr/>
          <p:nvPr/>
        </p:nvSpPr>
        <p:spPr>
          <a:xfrm>
            <a:off x="9040901" y="1325880"/>
            <a:ext cx="2602154" cy="3520440"/>
          </a:xfrm>
          <a:prstGeom prst="roundRect">
            <a:avLst>
              <a:gd name="adj" fmla="val 2811"/>
            </a:avLst>
          </a:prstGeom>
          <a:solidFill>
            <a:srgbClr val="FCEBDD"/>
          </a:solidFill>
          <a:ln w="12700">
            <a:solidFill>
              <a:srgbClr val="FCEBDD"/>
            </a:solidFill>
            <a:prstDash val="solid"/>
          </a:ln>
        </p:spPr>
      </p:sp>
      <p:sp>
        <p:nvSpPr>
          <p:cNvPr id="19" name="Shape 17"/>
          <p:cNvSpPr/>
          <p:nvPr/>
        </p:nvSpPr>
        <p:spPr>
          <a:xfrm>
            <a:off x="9178061" y="1463040"/>
            <a:ext cx="457200" cy="457200"/>
          </a:xfrm>
          <a:prstGeom prst="ellipse">
            <a:avLst/>
          </a:prstGeom>
          <a:solidFill>
            <a:srgbClr val="E8772E"/>
          </a:solidFill>
          <a:ln w="12700">
            <a:solidFill>
              <a:srgbClr val="E8772E"/>
            </a:solidFill>
            <a:prstDash val="solid"/>
          </a:ln>
        </p:spPr>
      </p:sp>
      <p:sp>
        <p:nvSpPr>
          <p:cNvPr id="20" name="Text 18"/>
          <p:cNvSpPr txBox="1"/>
          <p:nvPr/>
        </p:nvSpPr>
        <p:spPr>
          <a:xfrm>
            <a:off x="9178061" y="14630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Do</a:t>
            </a:r>
            <a:endParaRPr lang="en-US" sz="1300" dirty="0"/>
          </a:p>
        </p:txBody>
      </p:sp>
      <p:sp>
        <p:nvSpPr>
          <p:cNvPr id="21" name="Text 19"/>
          <p:cNvSpPr txBox="1"/>
          <p:nvPr/>
        </p:nvSpPr>
        <p:spPr>
          <a:xfrm>
            <a:off x="9772421" y="1435608"/>
            <a:ext cx="1733474" cy="50292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 Freitag</a:t>
            </a:r>
            <a:endParaRPr lang="en-US" sz="1500" dirty="0"/>
          </a:p>
        </p:txBody>
      </p:sp>
      <p:sp>
        <p:nvSpPr>
          <p:cNvPr id="22" name="Text 20"/>
          <p:cNvSpPr txBox="1"/>
          <p:nvPr/>
        </p:nvSpPr>
        <p:spPr>
          <a:xfrm>
            <a:off x="9223781" y="1984248"/>
            <a:ext cx="2236394" cy="2788920"/>
          </a:xfrm>
          <a:prstGeom prst="rect">
            <a:avLst/>
          </a:prstGeom>
          <a:noFill/>
          <a:ln/>
        </p:spPr>
        <p:txBody>
          <a:bodyPr wrap="square" lIns="0" tIns="0" rIns="0" bIns="0" rtlCol="0" anchor="t"/>
          <a:lstStyle/>
          <a:p>
            <a:pPr indent="0" marL="0">
              <a:buNone/>
            </a:pPr>
            <a:r>
              <a:rPr lang="en-US" sz="1500" dirty="0">
                <a:solidFill>
                  <a:srgbClr val="1F2A30"/>
                </a:solidFill>
                <a:latin typeface="Calibri" pitchFamily="34" charset="0"/>
                <a:ea typeface="Calibri" pitchFamily="34" charset="-122"/>
                <a:cs typeface="Calibri" pitchFamily="34" charset="-120"/>
              </a:rPr>
              <a:t>getestetes Steuerprogramm, Ablaufdiagramm</a:t>
            </a:r>
            <a:endParaRPr lang="en-US" sz="1500" dirty="0"/>
          </a:p>
        </p:txBody>
      </p:sp>
      <p:sp>
        <p:nvSpPr>
          <p:cNvPr id="23" name="Shape 21"/>
          <p:cNvSpPr/>
          <p:nvPr/>
        </p:nvSpPr>
        <p:spPr>
          <a:xfrm>
            <a:off x="548640" y="5029200"/>
            <a:ext cx="11094415" cy="868680"/>
          </a:xfrm>
          <a:prstGeom prst="roundRect">
            <a:avLst>
              <a:gd name="adj" fmla="val 10526"/>
            </a:avLst>
          </a:prstGeom>
          <a:solidFill>
            <a:srgbClr val="FCEBDD"/>
          </a:solidFill>
          <a:ln w="12700">
            <a:solidFill>
              <a:srgbClr val="FCEBDD"/>
            </a:solidFill>
            <a:prstDash val="solid"/>
          </a:ln>
        </p:spPr>
      </p:sp>
      <p:sp>
        <p:nvSpPr>
          <p:cNvPr id="24" name="Shape 22"/>
          <p:cNvSpPr/>
          <p:nvPr/>
        </p:nvSpPr>
        <p:spPr>
          <a:xfrm>
            <a:off x="731520" y="5193792"/>
            <a:ext cx="548640" cy="548640"/>
          </a:xfrm>
          <a:prstGeom prst="ellipse">
            <a:avLst/>
          </a:prstGeom>
          <a:solidFill>
            <a:srgbClr val="E8772E"/>
          </a:solidFill>
          <a:ln w="12700">
            <a:solidFill>
              <a:srgbClr val="E8772E"/>
            </a:solidFill>
            <a:prstDash val="solid"/>
          </a:ln>
        </p:spPr>
      </p:sp>
      <p:sp>
        <p:nvSpPr>
          <p:cNvPr id="25" name="Text 23"/>
          <p:cNvSpPr txBox="1"/>
          <p:nvPr/>
        </p:nvSpPr>
        <p:spPr>
          <a:xfrm>
            <a:off x="731520" y="5193792"/>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6" name="Text 24"/>
          <p:cNvSpPr txBox="1"/>
          <p:nvPr/>
        </p:nvSpPr>
        <p:spPr>
          <a:xfrm>
            <a:off x="1463040" y="5029200"/>
            <a:ext cx="9997135" cy="868680"/>
          </a:xfrm>
          <a:prstGeom prst="rect">
            <a:avLst/>
          </a:prstGeom>
          <a:noFill/>
          <a:ln/>
        </p:spPr>
        <p:txBody>
          <a:bodyPr wrap="square" lIns="0" tIns="0" rIns="0" bIns="0" rtlCol="0" anchor="ctr"/>
          <a:lstStyle/>
          <a:p>
            <a:pPr indent="0" marL="0">
              <a:buNone/>
            </a:pPr>
            <a:r>
              <a:rPr lang="en-US" sz="1500" dirty="0">
                <a:solidFill>
                  <a:srgbClr val="0B3C49"/>
                </a:solidFill>
                <a:latin typeface="Calibri" pitchFamily="34" charset="0"/>
                <a:ea typeface="Calibri" pitchFamily="34" charset="-122"/>
                <a:cs typeface="Calibri" pitchFamily="34" charset="-120"/>
              </a:rPr>
              <a:t>Verbindende Strukturen: Tages-Check-in (10 Min.), Projekttagebuch (10 Min.), Expert:innen-System. Freitag gestaltet jede Schule selbst.</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548640"/>
            <a:ext cx="11094415"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Abschluss</a:t>
            </a:r>
            <a:endParaRPr lang="en-US" sz="3600" dirty="0"/>
          </a:p>
        </p:txBody>
      </p:sp>
      <p:sp>
        <p:nvSpPr>
          <p:cNvPr id="3" name="Shape 1"/>
          <p:cNvSpPr/>
          <p:nvPr/>
        </p:nvSpPr>
        <p:spPr>
          <a:xfrm>
            <a:off x="548640" y="1737360"/>
            <a:ext cx="3454298" cy="3291840"/>
          </a:xfrm>
          <a:prstGeom prst="roundRect">
            <a:avLst>
              <a:gd name="adj" fmla="val 3333"/>
            </a:avLst>
          </a:prstGeom>
          <a:solidFill>
            <a:srgbClr val="174F5E"/>
          </a:solidFill>
          <a:ln w="12700">
            <a:solidFill>
              <a:srgbClr val="2C6E7C"/>
            </a:solidFill>
            <a:prstDash val="solid"/>
          </a:ln>
        </p:spPr>
      </p:sp>
      <p:sp>
        <p:nvSpPr>
          <p:cNvPr id="4" name="Shape 2"/>
          <p:cNvSpPr/>
          <p:nvPr/>
        </p:nvSpPr>
        <p:spPr>
          <a:xfrm>
            <a:off x="822960" y="1965960"/>
            <a:ext cx="548640" cy="548640"/>
          </a:xfrm>
          <a:prstGeom prst="ellipse">
            <a:avLst/>
          </a:prstGeom>
          <a:solidFill>
            <a:srgbClr val="E8772E"/>
          </a:solidFill>
          <a:ln w="12700">
            <a:solidFill>
              <a:srgbClr val="E8772E"/>
            </a:solidFill>
            <a:prstDash val="solid"/>
          </a:ln>
        </p:spPr>
      </p:sp>
      <p:sp>
        <p:nvSpPr>
          <p:cNvPr id="5" name="Text 3"/>
          <p:cNvSpPr txBox="1"/>
          <p:nvPr/>
        </p:nvSpPr>
        <p:spPr>
          <a:xfrm>
            <a:off x="822960" y="19659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508760" y="1965960"/>
            <a:ext cx="2265578" cy="54864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Wo stehe ich?</a:t>
            </a:r>
            <a:endParaRPr lang="en-US" sz="1900" dirty="0"/>
          </a:p>
        </p:txBody>
      </p:sp>
      <p:sp>
        <p:nvSpPr>
          <p:cNvPr id="7" name="Text 5"/>
          <p:cNvSpPr txBox="1"/>
          <p:nvPr/>
        </p:nvSpPr>
        <p:spPr>
          <a:xfrm>
            <a:off x="822960" y="2743200"/>
            <a:ext cx="2905658" cy="2148840"/>
          </a:xfrm>
          <a:prstGeom prst="rect">
            <a:avLst/>
          </a:prstGeom>
          <a:noFill/>
          <a:ln/>
        </p:spPr>
        <p:txBody>
          <a:bodyPr wrap="square" lIns="0" tIns="0" rIns="0" bIns="0" rtlCol="0" anchor="t"/>
          <a:lstStyle/>
          <a:p>
            <a:pPr marL="177800" indent="-177800">
              <a:spcAft>
                <a:spcPts val="600"/>
              </a:spcAft>
              <a:buSzPct val="100000"/>
              <a:buChar char="•"/>
            </a:pPr>
            <a:r>
              <a:rPr lang="en-US" sz="1700" dirty="0">
                <a:solidFill>
                  <a:srgbClr val="E6F2F1"/>
                </a:solidFill>
                <a:latin typeface="Calibri" pitchFamily="34" charset="0"/>
                <a:ea typeface="Calibri" pitchFamily="34" charset="-122"/>
                <a:cs typeface="Calibri" pitchFamily="34" charset="-120"/>
              </a:rPr>
              <a:t>Selbsteinschätzung wiederholen</a:t>
            </a:r>
            <a:endParaRPr lang="en-US" sz="1700" dirty="0"/>
          </a:p>
          <a:p>
            <a:pPr marL="177800" indent="-177800">
              <a:spcAft>
                <a:spcPts val="600"/>
              </a:spcAft>
              <a:buSzPct val="100000"/>
              <a:buChar char="•"/>
            </a:pPr>
            <a:r>
              <a:rPr lang="en-US" sz="1700" dirty="0">
                <a:solidFill>
                  <a:srgbClr val="E6F2F1"/>
                </a:solidFill>
                <a:latin typeface="Calibri" pitchFamily="34" charset="0"/>
                <a:ea typeface="Calibri" pitchFamily="34" charset="-122"/>
                <a:cs typeface="Calibri" pitchFamily="34" charset="-120"/>
              </a:rPr>
              <a:t>mit Sitzung 1 vergleichen</a:t>
            </a:r>
            <a:endParaRPr lang="en-US" sz="1700" dirty="0"/>
          </a:p>
        </p:txBody>
      </p:sp>
      <p:sp>
        <p:nvSpPr>
          <p:cNvPr id="8" name="Shape 6"/>
          <p:cNvSpPr/>
          <p:nvPr/>
        </p:nvSpPr>
        <p:spPr>
          <a:xfrm>
            <a:off x="4368698" y="1737360"/>
            <a:ext cx="3454298" cy="3291840"/>
          </a:xfrm>
          <a:prstGeom prst="roundRect">
            <a:avLst>
              <a:gd name="adj" fmla="val 3333"/>
            </a:avLst>
          </a:prstGeom>
          <a:solidFill>
            <a:srgbClr val="174F5E"/>
          </a:solidFill>
          <a:ln w="12700">
            <a:solidFill>
              <a:srgbClr val="2C6E7C"/>
            </a:solidFill>
            <a:prstDash val="solid"/>
          </a:ln>
        </p:spPr>
      </p:sp>
      <p:sp>
        <p:nvSpPr>
          <p:cNvPr id="9" name="Shape 7"/>
          <p:cNvSpPr/>
          <p:nvPr/>
        </p:nvSpPr>
        <p:spPr>
          <a:xfrm>
            <a:off x="4643018" y="1965960"/>
            <a:ext cx="548640" cy="548640"/>
          </a:xfrm>
          <a:prstGeom prst="ellipse">
            <a:avLst/>
          </a:prstGeom>
          <a:solidFill>
            <a:srgbClr val="E8772E"/>
          </a:solidFill>
          <a:ln w="12700">
            <a:solidFill>
              <a:srgbClr val="E8772E"/>
            </a:solidFill>
            <a:prstDash val="solid"/>
          </a:ln>
        </p:spPr>
      </p:sp>
      <p:sp>
        <p:nvSpPr>
          <p:cNvPr id="10" name="Text 8"/>
          <p:cNvSpPr txBox="1"/>
          <p:nvPr/>
        </p:nvSpPr>
        <p:spPr>
          <a:xfrm>
            <a:off x="4643018" y="19659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Text 9"/>
          <p:cNvSpPr txBox="1"/>
          <p:nvPr/>
        </p:nvSpPr>
        <p:spPr>
          <a:xfrm>
            <a:off x="5328818" y="1965960"/>
            <a:ext cx="2265578" cy="54864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Praxisauftrag</a:t>
            </a:r>
            <a:endParaRPr lang="en-US" sz="1900" dirty="0"/>
          </a:p>
        </p:txBody>
      </p:sp>
      <p:sp>
        <p:nvSpPr>
          <p:cNvPr id="12" name="Text 10"/>
          <p:cNvSpPr txBox="1"/>
          <p:nvPr/>
        </p:nvSpPr>
        <p:spPr>
          <a:xfrm>
            <a:off x="4643018" y="2743200"/>
            <a:ext cx="2905658" cy="2148840"/>
          </a:xfrm>
          <a:prstGeom prst="rect">
            <a:avLst/>
          </a:prstGeom>
          <a:noFill/>
          <a:ln/>
        </p:spPr>
        <p:txBody>
          <a:bodyPr wrap="square" lIns="0" tIns="0" rIns="0" bIns="0" rtlCol="0" anchor="t"/>
          <a:lstStyle/>
          <a:p>
            <a:pPr marL="177800" indent="-177800">
              <a:spcAft>
                <a:spcPts val="600"/>
              </a:spcAft>
              <a:buSzPct val="100000"/>
              <a:buChar char="•"/>
            </a:pPr>
            <a:r>
              <a:rPr lang="en-US" sz="1700" dirty="0">
                <a:solidFill>
                  <a:srgbClr val="E6F2F1"/>
                </a:solidFill>
                <a:latin typeface="Calibri" pitchFamily="34" charset="0"/>
                <a:ea typeface="Calibri" pitchFamily="34" charset="-122"/>
                <a:cs typeface="Calibri" pitchFamily="34" charset="-120"/>
              </a:rPr>
              <a:t>Tagesplan auf eigene Lerngruppe übertragen</a:t>
            </a:r>
            <a:endParaRPr lang="en-US" sz="1700" dirty="0"/>
          </a:p>
          <a:p>
            <a:pPr marL="177800" indent="-177800">
              <a:spcAft>
                <a:spcPts val="600"/>
              </a:spcAft>
              <a:buSzPct val="100000"/>
              <a:buChar char="•"/>
            </a:pPr>
            <a:r>
              <a:rPr lang="en-US" sz="1700" dirty="0">
                <a:solidFill>
                  <a:srgbClr val="E6F2F1"/>
                </a:solidFill>
                <a:latin typeface="Calibri" pitchFamily="34" charset="0"/>
                <a:ea typeface="Calibri" pitchFamily="34" charset="-122"/>
                <a:cs typeface="Calibri" pitchFamily="34" charset="-120"/>
              </a:rPr>
              <a:t>erproben und reflektieren</a:t>
            </a:r>
            <a:endParaRPr lang="en-US" sz="1700" dirty="0"/>
          </a:p>
          <a:p>
            <a:pPr marL="177800" indent="-177800">
              <a:spcAft>
                <a:spcPts val="600"/>
              </a:spcAft>
              <a:buSzPct val="100000"/>
              <a:buChar char="•"/>
            </a:pPr>
            <a:r>
              <a:rPr lang="en-US" sz="1700" dirty="0">
                <a:solidFill>
                  <a:srgbClr val="E6F2F1"/>
                </a:solidFill>
                <a:latin typeface="Calibri" pitchFamily="34" charset="0"/>
                <a:ea typeface="Calibri" pitchFamily="34" charset="-122"/>
                <a:cs typeface="Calibri" pitchFamily="34" charset="-120"/>
              </a:rPr>
              <a:t>ca. 1 Seite im Moodle-Kurs</a:t>
            </a:r>
            <a:endParaRPr lang="en-US" sz="1700" dirty="0"/>
          </a:p>
        </p:txBody>
      </p:sp>
      <p:sp>
        <p:nvSpPr>
          <p:cNvPr id="13" name="Shape 11"/>
          <p:cNvSpPr/>
          <p:nvPr/>
        </p:nvSpPr>
        <p:spPr>
          <a:xfrm>
            <a:off x="8188757" y="1737360"/>
            <a:ext cx="3454298" cy="3291840"/>
          </a:xfrm>
          <a:prstGeom prst="roundRect">
            <a:avLst>
              <a:gd name="adj" fmla="val 3333"/>
            </a:avLst>
          </a:prstGeom>
          <a:solidFill>
            <a:srgbClr val="174F5E"/>
          </a:solidFill>
          <a:ln w="12700">
            <a:solidFill>
              <a:srgbClr val="2C6E7C"/>
            </a:solidFill>
            <a:prstDash val="solid"/>
          </a:ln>
        </p:spPr>
      </p:sp>
      <p:sp>
        <p:nvSpPr>
          <p:cNvPr id="14" name="Shape 12"/>
          <p:cNvSpPr/>
          <p:nvPr/>
        </p:nvSpPr>
        <p:spPr>
          <a:xfrm>
            <a:off x="8463077" y="1965960"/>
            <a:ext cx="548640" cy="548640"/>
          </a:xfrm>
          <a:prstGeom prst="ellipse">
            <a:avLst/>
          </a:prstGeom>
          <a:solidFill>
            <a:srgbClr val="E8772E"/>
          </a:solidFill>
          <a:ln w="12700">
            <a:solidFill>
              <a:srgbClr val="E8772E"/>
            </a:solidFill>
            <a:prstDash val="solid"/>
          </a:ln>
        </p:spPr>
      </p:sp>
      <p:sp>
        <p:nvSpPr>
          <p:cNvPr id="15" name="Text 13"/>
          <p:cNvSpPr txBox="1"/>
          <p:nvPr/>
        </p:nvSpPr>
        <p:spPr>
          <a:xfrm>
            <a:off x="8463077" y="19659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9148877" y="1965960"/>
            <a:ext cx="2265578" cy="54864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Evaluation</a:t>
            </a:r>
            <a:endParaRPr lang="en-US" sz="1900" dirty="0"/>
          </a:p>
        </p:txBody>
      </p:sp>
      <p:sp>
        <p:nvSpPr>
          <p:cNvPr id="17" name="Text 15"/>
          <p:cNvSpPr txBox="1"/>
          <p:nvPr/>
        </p:nvSpPr>
        <p:spPr>
          <a:xfrm>
            <a:off x="8463077" y="2743200"/>
            <a:ext cx="2905658" cy="2148840"/>
          </a:xfrm>
          <a:prstGeom prst="rect">
            <a:avLst/>
          </a:prstGeom>
          <a:noFill/>
          <a:ln/>
        </p:spPr>
        <p:txBody>
          <a:bodyPr wrap="square" lIns="0" tIns="0" rIns="0" bIns="0" rtlCol="0" anchor="t"/>
          <a:lstStyle/>
          <a:p>
            <a:pPr marL="177800" indent="-177800">
              <a:spcAft>
                <a:spcPts val="600"/>
              </a:spcAft>
              <a:buSzPct val="100000"/>
              <a:buChar char="•"/>
            </a:pPr>
            <a:r>
              <a:rPr lang="en-US" sz="1700" dirty="0">
                <a:solidFill>
                  <a:srgbClr val="E6F2F1"/>
                </a:solidFill>
                <a:latin typeface="Calibri" pitchFamily="34" charset="0"/>
                <a:ea typeface="Calibri" pitchFamily="34" charset="-122"/>
                <a:cs typeface="Calibri" pitchFamily="34" charset="-120"/>
              </a:rPr>
              <a:t>5 Minuten im Selbstlernmodul 3</a:t>
            </a:r>
            <a:endParaRPr lang="en-US" sz="1700" dirty="0"/>
          </a:p>
          <a:p>
            <a:pPr marL="177800" indent="-177800">
              <a:spcAft>
                <a:spcPts val="600"/>
              </a:spcAft>
              <a:buSzPct val="100000"/>
              <a:buChar char="•"/>
            </a:pPr>
            <a:r>
              <a:rPr lang="en-US" sz="1700" dirty="0">
                <a:solidFill>
                  <a:srgbClr val="E6F2F1"/>
                </a:solidFill>
                <a:latin typeface="Calibri" pitchFamily="34" charset="0"/>
                <a:ea typeface="Calibri" pitchFamily="34" charset="-122"/>
                <a:cs typeface="Calibri" pitchFamily="34" charset="-120"/>
              </a:rPr>
              <a:t>Ihre Rückmeldung verbessert die Reihe</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Otto-von-Guericke-Universität Magdeburg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Sitzung 3 – Vom Roboter zum Unterricht</dc:title>
  <dc:subject>PptxGenJS Presentation</dc:subject>
  <dc:creator>ITVET – OVGU Magdeburg</dc:creator>
  <cp:lastModifiedBy>ITVET – OVGU Magdeburg</cp:lastModifiedBy>
  <cp:revision>1</cp:revision>
  <dcterms:created xsi:type="dcterms:W3CDTF">2026-10-04T17:30:53Z</dcterms:created>
  <dcterms:modified xsi:type="dcterms:W3CDTF">2026-10-04T17:30:53Z</dcterms:modified>
</cp:coreProperties>
</file>