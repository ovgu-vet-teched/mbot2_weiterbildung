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Begrüßung. Kernbotschaft: Erst selbst ausprobieren, dann planen. Was Sie heute am mBot2 erleben – Zeitbedarf, Stolperstellen, Aha-Momente – wird zur Grundlage Ihrer Unterrichtsplanung.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Blitzlicht reihum, ein Satz pro Person. Wer möchte, vergleicht bereits seine Selbsteinschätzung aus Sitzung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Grundprinzip aus der erprobten Planungssession. Die Erprobung hat dort auch Planungsfehler sichtbar gemacht, die am Schreibtisch unbemerkt geblieben wären (z. B. Montag sah noch den Zusammenbau vor).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Erfahrung aus der Erprobung: Ohne gemeinsame Klassenstufe planten die Gruppen für unterschiedliche Jahrgänge, Anspruch und Übergaben passten nicht zusammen. Deshalb legt die Gruppe jetzt eine gemeinsame Jahrgangsstufe fest – Ergebnis der Abfrage aus Selbstlernmodul 2 zeigen, per Handzeichen entscheiden, ohne klare Mehrheit Klasse 7. Für andere Jahrgänge die Variantentabelle aus 07_Anpassung_Jahrgangsstufen.md austeilen. Eine offene Gruppe für weitere Fächer (Deutsch, Ethik, Biologie …) ist möglich.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 weniger Teilnehmenden (2–3 Gruppen) die Präsentationsphase pro Gruppe verlängern (siehe Moderationsleitfaden, Abschnitt 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Selbstreflexion der Erprobung: Die Beteiligung war ungleich verteilt; Rollen sollen explizit benannt und gewechselt werden. Die Rolle Zeit und Beobachtung ist neu und liefert die Daten für die Zeitplanung.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Aufgabenkarten mit Details und Erweiterungen stehen im Arbeitsheft. Lösungen und Erwartungen im Lösungsheft.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Leitung geht herum und stellt diese Fragen. Beobachtungen für die Präsentationsphase notieren.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Minuten Planungszeit. Nach 10 Minuten prüft die Leitung bei jeder Gruppe das Lernziel: Ist es fachlich? Ist es überprüfbar?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Bezug zum Wissenscheck 3, Frage 1. Operatoren: berechnen, begründen, darstellen, deuten, erklären, vergleichen.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 Ausgangsmaterial wurde der Test „Ginge es ohne Technik?“ als hartes Kriterium verwendet. Das ist zu streng: Auch ein begründetes „Ja, aber …“ kann gute Gründe haben.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Gruppe sammelt die Karten ein und nimmt mindestens eine Anregung in ihren Plan auf (Erwartungshorizont LZ 3.4).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Übergabe-Matrix gemeinsam an der Pinnwand ergänzen. Orientierung für Freitag: Format (Parcours, Science Fair, Bühne), Publikum, Foto-Einverständnisse.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Dank. Hinweis auf die Teilnahmebescheinigung: alle drei Sitzungen, Selbstlernmodule, Praxisauftrag. Das Moodle-Forum bleibt für den Austausch geöffnet.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6F6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Der mBot2 im Fachunterricht · Sitzung 3 · CC BY 4.0</a:t>
            </a:r>
            <a:endParaRPr lang="en-US" sz="1000" dirty="0"/>
          </a:p>
        </p:txBody>
      </p:sp>
      <p:pic>
        <p:nvPicPr>
          <p:cNvPr id="3" name="Image 0" descr="/Users/h_tegelbeckers/Library/CloudStorage/Nextcloud-cloud.ovgu.de-HannesTegelbeckers/PROF_INGPED_TECHED/Admin/Personal/Lehre/Tegelbeckers Hannes/06_Lehrinhalte/Didaktikwerkstatt/DW-T 2026/Agent_Improved/assets/ovgu_fhw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4175" y="274320"/>
            <a:ext cx="2468880" cy="564756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274320"/>
            <a:ext cx="8351215" cy="8961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06F6F"/>
                </a:solidFill>
                <a:latin typeface="Lucida Sans"/>
                <a:ea typeface="Lucida Sans"/>
                <a:cs typeface="Lucida San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_tegelbeckers/Library/CloudStorage/Nextcloud-cloud.ovgu.de-HannesTegelbeckers/PROF_INGPED_TECHED/Admin/Personal/Lehre/Tegelbeckers Hannes/06_Lehrinhalte/Didaktikwerkstatt/DW-T 2026/Agent_Improved/assets/ovgu_fhw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486400" cy="125501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6F6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Der mBot2 im Fachunterricht · Sitzung 3 · CC BY 4.0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06F6F"/>
                </a:solidFill>
                <a:latin typeface="Lucida Sans"/>
                <a:ea typeface="Lucida Sans"/>
                <a:cs typeface="Lucida San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488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06F6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FORTBILDUNGSREIHE · DER mBOT2 IM FACHUNTERRICHT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06040"/>
            <a:ext cx="9509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Vom Roboter zum Unterricht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Fachbezogene Erprobung und Planung einer Projektwoche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4800600"/>
            <a:ext cx="2697480" cy="548640"/>
          </a:xfrm>
          <a:prstGeom prst="roundRect">
            <a:avLst>
              <a:gd name="adj" fmla="val 50000"/>
            </a:avLst>
          </a:prstGeom>
          <a:solidFill>
            <a:srgbClr val="FDF0E3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8006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Sitzung 3 von 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29000" y="4800600"/>
            <a:ext cx="2697480" cy="548640"/>
          </a:xfrm>
          <a:prstGeom prst="roundRect">
            <a:avLst>
              <a:gd name="adj" fmla="val 50000"/>
            </a:avLst>
          </a:prstGeom>
          <a:solidFill>
            <a:srgbClr val="FDF0E3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48006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90 Minuten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4800600"/>
            <a:ext cx="2697480" cy="548640"/>
          </a:xfrm>
          <a:prstGeom prst="roundRect">
            <a:avLst>
              <a:gd name="adj" fmla="val 50000"/>
            </a:avLst>
          </a:prstGeom>
          <a:solidFill>
            <a:srgbClr val="FDF0E3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48006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Klasse 5–13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88575" y="2286000"/>
            <a:ext cx="1554480" cy="1554480"/>
          </a:xfrm>
          <a:prstGeom prst="ellipse">
            <a:avLst/>
          </a:prstGeom>
          <a:solidFill>
            <a:srgbClr val="EF7D00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88575" y="228600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3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3512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Was Sie schon können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06F6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Rückblick in einem Satz: Was können Sie jetzt, was Sie vor Sitzung 1 nicht konnten?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84778" cy="3840480"/>
          </a:xfrm>
          <a:prstGeom prst="roundRect">
            <a:avLst>
              <a:gd name="adj" fmla="val 3149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94560"/>
            <a:ext cx="548640" cy="54864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194560"/>
            <a:ext cx="2387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Sitzung 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80360"/>
            <a:ext cx="293613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mBot2 aufgebaut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EVA-Prinzip erklärt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mit Open Roberta verbunden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53458" y="1965960"/>
            <a:ext cx="3484778" cy="3840480"/>
          </a:xfrm>
          <a:prstGeom prst="roundRect">
            <a:avLst>
              <a:gd name="adj" fmla="val 3149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82058" y="2194560"/>
            <a:ext cx="548640" cy="54864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2058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267858" y="2194560"/>
            <a:ext cx="2387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Sitzung 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27778" y="2880360"/>
            <a:ext cx="293613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Schleifen und Bedingungen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Schwellenwerte gemessen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Fehler systematisch gesucht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58277" y="1965960"/>
            <a:ext cx="3484778" cy="3840480"/>
          </a:xfrm>
          <a:prstGeom prst="roundRect">
            <a:avLst>
              <a:gd name="adj" fmla="val 3149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86877" y="2194560"/>
            <a:ext cx="548640" cy="548640"/>
          </a:xfrm>
          <a:prstGeom prst="ellipse">
            <a:avLst/>
          </a:prstGeom>
          <a:solidFill>
            <a:srgbClr val="EF7D00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86877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072677" y="2194560"/>
            <a:ext cx="2387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Heute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32597" y="2880360"/>
            <a:ext cx="293613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Jahrgangsstufe festlegen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Aufgabe erproben, Tagesplan entwickeln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Übergaben abstimmen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06F6F"/>
                </a:solidFill>
                <a:latin typeface="Lucida Sans"/>
                <a:ea typeface="Lucida Sans"/>
                <a:cs typeface="Lucida San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3512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Erst selbst ausprobieren – dann planen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533574" cy="4480560"/>
          </a:xfrm>
          <a:prstGeom prst="roundRect">
            <a:avLst>
              <a:gd name="adj" fmla="val 4331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554480"/>
            <a:ext cx="14362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Erleben vor Erklären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40280"/>
            <a:ext cx="198493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Sie lösen die Aufgabe, die später Ihre Schülerinnen und Schüler lösen.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02254" y="1325880"/>
            <a:ext cx="2533574" cy="4480560"/>
          </a:xfrm>
          <a:prstGeom prst="roundRect">
            <a:avLst>
              <a:gd name="adj" fmla="val 4331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0854" y="1554480"/>
            <a:ext cx="548640" cy="54864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30854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316654" y="1554480"/>
            <a:ext cx="14362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Erfahrung → Planung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76574" y="2240280"/>
            <a:ext cx="198493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Zeitbedarf, Stolperstellen und Aha-Momente fließen direkt in den Tagesplan.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55868" y="1325880"/>
            <a:ext cx="2533574" cy="4480560"/>
          </a:xfrm>
          <a:prstGeom prst="roundRect">
            <a:avLst>
              <a:gd name="adj" fmla="val 4331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84468" y="1554480"/>
            <a:ext cx="548640" cy="54864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84468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170268" y="1554480"/>
            <a:ext cx="14362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Realistische Zeiten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530188" y="2240280"/>
            <a:ext cx="198493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Wer selbst gemessen und programmiert hat, schätzt den Zeitbedarf genauer.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09481" y="1325880"/>
            <a:ext cx="2533574" cy="4480560"/>
          </a:xfrm>
          <a:prstGeom prst="roundRect">
            <a:avLst>
              <a:gd name="adj" fmla="val 4331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38081" y="1554480"/>
            <a:ext cx="548640" cy="54864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38081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0023881" y="1554480"/>
            <a:ext cx="14362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Ein roter Faden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83801" y="2240280"/>
            <a:ext cx="198493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Vier Tage, die aufeinander aufbauen – mit klaren Übergaben.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06F6F"/>
                </a:solidFill>
                <a:latin typeface="Lucida Sans"/>
                <a:ea typeface="Lucida Sans"/>
                <a:cs typeface="Lucida San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3512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Die Projektwoche – Beispiel Klasse 7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5852160"/>
                <a:gridCol w="1554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Tag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0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Fach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0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Tagesziel der Schülerinnen und Schüler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0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Zeit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0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1D1B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Montag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1D1B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Technik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1D1B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mBot2 geprüft; Fehler systematisch gefunden, behoben, Kontrolltest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1D1B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3–5 Std.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1D1B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Dienstag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1D1B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Mathematik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1D1B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Fahrwege berechnet, verglichen, begründet, mit dem mBot2 überprüft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1D1B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4–6 Std.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1D1B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Mittwoch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1D1B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Physik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1D1B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zwei Messungen mit Hypothese durchgeführt und ausgewertet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1D1B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4–6 Std.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1D1B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Donnerstag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1D1B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Informatik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1D1B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eigenes Steuerprogramm mit Schleife und Bedingungen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1D1B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4–6 Std.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1D1B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Freitag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1D1B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Präsentation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1D1B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Schülerinnen und Schüler präsentieren als Expert:innen (schulindividuell)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1D1B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3–4 Std.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02920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5193792"/>
            <a:ext cx="548640" cy="548640"/>
          </a:xfrm>
          <a:prstGeom prst="ellipse">
            <a:avLst/>
          </a:prstGeom>
          <a:solidFill>
            <a:srgbClr val="EF7D00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193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5029200"/>
            <a:ext cx="9997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Wir legen jetzt eine gemeinsame Jahrgangsstufe fest (Voreinstellung: Klasse 7). Varianten für Kl. 5/6, 9/10 und Sek II stehen im Anpassungsleitfaden.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06F6F"/>
                </a:solidFill>
                <a:latin typeface="Lucida Sans"/>
                <a:ea typeface="Lucida Sans"/>
                <a:cs typeface="Lucida San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3512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Ablauf heute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2423160"/>
            <a:ext cx="10545775" cy="0"/>
          </a:xfrm>
          <a:prstGeom prst="line">
            <a:avLst/>
          </a:prstGeom>
          <a:noFill/>
          <a:ln w="25400">
            <a:solidFill>
              <a:srgbClr val="D9D9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655" y="2148840"/>
            <a:ext cx="548640" cy="54864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655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16966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0–10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1696669" cy="2926080"/>
          </a:xfrm>
          <a:prstGeom prst="roundRect">
            <a:avLst>
              <a:gd name="adj" fmla="val 5389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429000"/>
            <a:ext cx="13309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Einstieg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160520"/>
            <a:ext cx="1330909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Rückblick, Wochenstruktur, Rollen, Aufgabenkarten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002204" y="2148840"/>
            <a:ext cx="548640" cy="548640"/>
          </a:xfrm>
          <a:prstGeom prst="ellipse">
            <a:avLst/>
          </a:prstGeom>
          <a:solidFill>
            <a:srgbClr val="EF7D00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02204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428189" y="2834640"/>
            <a:ext cx="16966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10–40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428189" y="3291840"/>
            <a:ext cx="1696669" cy="2926080"/>
          </a:xfrm>
          <a:prstGeom prst="roundRect">
            <a:avLst>
              <a:gd name="adj" fmla="val 5389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11069" y="3429000"/>
            <a:ext cx="13309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Erprobung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611069" y="4160520"/>
            <a:ext cx="1330909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Kernauftrag 20 Min., Rollenwechsel, Erweiterung 10 Min.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81753" y="2148840"/>
            <a:ext cx="548640" cy="54864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81753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307738" y="2834640"/>
            <a:ext cx="16966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40–60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07738" y="3291840"/>
            <a:ext cx="1696669" cy="2926080"/>
          </a:xfrm>
          <a:prstGeom prst="roundRect">
            <a:avLst>
              <a:gd name="adj" fmla="val 5389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90618" y="3429000"/>
            <a:ext cx="13309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Planung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490618" y="4160520"/>
            <a:ext cx="1330909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Tagesplan mit der Planungsvorlage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761302" y="2148840"/>
            <a:ext cx="548640" cy="54864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61302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187288" y="2834640"/>
            <a:ext cx="16966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60–78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87288" y="3291840"/>
            <a:ext cx="1696669" cy="2926080"/>
          </a:xfrm>
          <a:prstGeom prst="roundRect">
            <a:avLst>
              <a:gd name="adj" fmla="val 5389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70168" y="3429000"/>
            <a:ext cx="13309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Präsentation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370168" y="4160520"/>
            <a:ext cx="1330909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1 Min. Demo + 3 Min. Plan, Peer-Feedback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640851" y="2148840"/>
            <a:ext cx="548640" cy="54864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40851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8066837" y="2834640"/>
            <a:ext cx="16966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78–85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066837" y="3291840"/>
            <a:ext cx="1696669" cy="2926080"/>
          </a:xfrm>
          <a:prstGeom prst="roundRect">
            <a:avLst>
              <a:gd name="adj" fmla="val 5389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49717" y="3429000"/>
            <a:ext cx="13309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Vernetzung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249717" y="4160520"/>
            <a:ext cx="1330909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Übergabe-Matrix, Freitag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10520401" y="2148840"/>
            <a:ext cx="548640" cy="54864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520401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9946386" y="2834640"/>
            <a:ext cx="16966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85–90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946386" y="3291840"/>
            <a:ext cx="1696669" cy="2926080"/>
          </a:xfrm>
          <a:prstGeom prst="roundRect">
            <a:avLst>
              <a:gd name="adj" fmla="val 5389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129266" y="3429000"/>
            <a:ext cx="13309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Abschluss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10129266" y="4160520"/>
            <a:ext cx="1330909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Selbstcheck, Praxisauftrag, Evaluation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06F6F"/>
                </a:solidFill>
                <a:latin typeface="Lucida Sans"/>
                <a:ea typeface="Lucida Sans"/>
                <a:cs typeface="Lucida San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3512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Rollen in Ihrer Fachgruppe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06F6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Wechsel nach dem Kernauftrag – damit sich alle beteiligen.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84778" cy="2834640"/>
          </a:xfrm>
          <a:prstGeom prst="roundRect">
            <a:avLst>
              <a:gd name="adj" fmla="val 3871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94560"/>
            <a:ext cx="548640" cy="54864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194560"/>
            <a:ext cx="2387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Bedienung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80360"/>
            <a:ext cx="293613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programmiert und startet den mBot2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setzt die Aufgabe praktisch um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53458" y="1965960"/>
            <a:ext cx="3484778" cy="2834640"/>
          </a:xfrm>
          <a:prstGeom prst="roundRect">
            <a:avLst>
              <a:gd name="adj" fmla="val 3871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82058" y="2194560"/>
            <a:ext cx="548640" cy="548640"/>
          </a:xfrm>
          <a:prstGeom prst="ellipse">
            <a:avLst/>
          </a:prstGeom>
          <a:solidFill>
            <a:srgbClr val="EF7D00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2058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267858" y="2194560"/>
            <a:ext cx="2387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Zeit und Beobachtung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27778" y="2880360"/>
            <a:ext cx="293613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stoppt die Dauer jedes Schritts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notiert Stolperstellen und Aha-Momente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→ Grundlage Ihrer Zeitplanung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58277" y="1965960"/>
            <a:ext cx="3484778" cy="2834640"/>
          </a:xfrm>
          <a:prstGeom prst="roundRect">
            <a:avLst>
              <a:gd name="adj" fmla="val 3871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86877" y="2194560"/>
            <a:ext cx="548640" cy="54864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86877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072677" y="2194560"/>
            <a:ext cx="2387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Dokumentation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32597" y="2880360"/>
            <a:ext cx="293613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hält Ergebnisse, Messwerte, Programme fest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bereitet die Präsentation vor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5193792"/>
            <a:ext cx="548640" cy="548640"/>
          </a:xfrm>
          <a:prstGeom prst="ellipse">
            <a:avLst/>
          </a:prstGeom>
          <a:solidFill>
            <a:srgbClr val="EF7D00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5193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!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029200"/>
            <a:ext cx="9997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Jede Aufgabenkarte hat einen Kernauftrag (Pflicht, 20 Min.) und eine Erweiterung (optional, 10 Min.).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06F6F"/>
                </a:solidFill>
                <a:latin typeface="Lucida Sans"/>
                <a:ea typeface="Lucida Sans"/>
                <a:cs typeface="Lucida San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3512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Die Erprobungsaufträge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696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Gruppe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0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Kernauftrag (20 Min.)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03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1D1B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Mo · Technik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1D1B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Soll-Verhalten programmieren, genau einen reversiblen Fehler einbauen, Diagnoseauftrag schreiben, gegenseitig testen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1D1B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Di · Mathematik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1D1B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Raster 20 cm: Wege A und B von (0|0) nach (3|2) berechnen, kürzesten begründen, Weg A fahren und messen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1D1B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Mi · Physik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1D1B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Zwei Versuche mit Hypothese: Ultraschall, Reflexion oder Weg-Zeit (60 U/min, fliegender Start)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1D1B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Do · Informatik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1D1B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Hindernis-Stopp + Linienfolger kombinieren, Schwellenwert variieren, Ablaufdiagramm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1D1B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Offene Gruppe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1D1B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z. B. Deutsch: Vorgangsbeschreibung testen · Ethik: Wer entscheidet beim Ausweichen?</a:t>
                      </a:r>
                      <a:endParaRPr lang="en-US" sz="16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02920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5193792"/>
            <a:ext cx="548640" cy="548640"/>
          </a:xfrm>
          <a:prstGeom prst="ellipse">
            <a:avLst/>
          </a:prstGeom>
          <a:solidFill>
            <a:srgbClr val="EF7D00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193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5029200"/>
            <a:ext cx="9997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Sicherheit: Hardware nur im ausgeschalteten Zustand verändern, keine Eingriffe am Akku, Fahrten am Boden.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06F6F"/>
                </a:solidFill>
                <a:latin typeface="Lucida Sans"/>
                <a:ea typeface="Lucida Sans"/>
                <a:cs typeface="Lucida San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3512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Impulsfragen während der Erprobung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533574" cy="4480560"/>
          </a:xfrm>
          <a:prstGeom prst="roundRect">
            <a:avLst>
              <a:gd name="adj" fmla="val 4331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554480"/>
            <a:ext cx="14362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Zeit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40280"/>
            <a:ext cx="198493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Welcher Schritt hat am längsten gedauert? Wie lange bräuchte Ihre Klasse?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02254" y="1325880"/>
            <a:ext cx="2533574" cy="4480560"/>
          </a:xfrm>
          <a:prstGeom prst="roundRect">
            <a:avLst>
              <a:gd name="adj" fmla="val 4331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0854" y="1554480"/>
            <a:ext cx="548640" cy="54864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30854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316654" y="1554480"/>
            <a:ext cx="14362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Vorwissen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76574" y="2240280"/>
            <a:ext cx="198493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Was müssen die Schülerinnen und Schüler schon können? Woher kommt das in der Woche?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55868" y="1325880"/>
            <a:ext cx="2533574" cy="4480560"/>
          </a:xfrm>
          <a:prstGeom prst="roundRect">
            <a:avLst>
              <a:gd name="adj" fmla="val 4331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84468" y="1554480"/>
            <a:ext cx="548640" cy="54864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84468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170268" y="1554480"/>
            <a:ext cx="14362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Fachliches Ergebnis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530188" y="2240280"/>
            <a:ext cx="198493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Was wird hier gelernt – unabhängig davon, dass der Roboter fährt?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109481" y="1325880"/>
            <a:ext cx="2533574" cy="4480560"/>
          </a:xfrm>
          <a:prstGeom prst="roundRect">
            <a:avLst>
              <a:gd name="adj" fmla="val 4331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38081" y="1554480"/>
            <a:ext cx="548640" cy="54864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38081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0023881" y="1554480"/>
            <a:ext cx="14362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Lernhürde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83801" y="2240280"/>
            <a:ext cx="198493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Wo würden schwächere Lernende hängen bleiben? Was wäre die passende Hilfe?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06F6F"/>
                </a:solidFill>
                <a:latin typeface="Lucida Sans"/>
                <a:ea typeface="Lucida Sans"/>
                <a:cs typeface="Lucida San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3512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Die Planungsvorlage: sieben Pflichtfelder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602154" cy="219456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435608"/>
            <a:ext cx="17334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Lernziel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84248"/>
            <a:ext cx="223639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fachlich und überprüfbar (Operator + Inhalt)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79394" y="1325880"/>
            <a:ext cx="2602154" cy="219456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16554" y="1463040"/>
            <a:ext cx="457200" cy="45720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16554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110914" y="1435608"/>
            <a:ext cx="17334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Rolle des mBot2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62274" y="1984248"/>
            <a:ext cx="223639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Was wird durch ihn möglich oder besser?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0148" y="1325880"/>
            <a:ext cx="2602154" cy="219456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47308" y="1463040"/>
            <a:ext cx="457200" cy="45720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47308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941668" y="1435608"/>
            <a:ext cx="17334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Ablauf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93028" y="1984248"/>
            <a:ext cx="223639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Zeiten aus der Erprobung, mindestens 20 % Puffer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040901" y="1325880"/>
            <a:ext cx="2602154" cy="219456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78061" y="1463040"/>
            <a:ext cx="457200" cy="45720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78061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772421" y="1435608"/>
            <a:ext cx="17334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Hürde → Hilfe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223781" y="1984248"/>
            <a:ext cx="223639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eine konkrete Lernhürde, eine passende Hilfe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3703320"/>
            <a:ext cx="2602154" cy="219456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3840480"/>
            <a:ext cx="457200" cy="45720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3813048"/>
            <a:ext cx="17334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Vertiefung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4361688"/>
            <a:ext cx="223639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für Schnelle – fachlich, nicht „mehr vom Gleichen“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379394" y="3703320"/>
            <a:ext cx="2602154" cy="219456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16554" y="3840480"/>
            <a:ext cx="457200" cy="45720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516554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110914" y="3813048"/>
            <a:ext cx="17334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Lernnachweis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3562274" y="4361688"/>
            <a:ext cx="223639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Woran sieht man den Lernzuwachs?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210148" y="3703320"/>
            <a:ext cx="2602154" cy="2194560"/>
          </a:xfrm>
          <a:prstGeom prst="roundRect">
            <a:avLst>
              <a:gd name="adj" fmla="val 3333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47308" y="3840480"/>
            <a:ext cx="457200" cy="457200"/>
          </a:xfrm>
          <a:prstGeom prst="ellipse">
            <a:avLst/>
          </a:prstGeom>
          <a:solidFill>
            <a:srgbClr val="EF7D00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47308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7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941668" y="3813048"/>
            <a:ext cx="17334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Übergabe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393028" y="4361688"/>
            <a:ext cx="223639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was wir brauchen, was wir weitergeben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9040901" y="3703320"/>
            <a:ext cx="2602154" cy="219456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78061" y="3840480"/>
            <a:ext cx="457200" cy="45720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178061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+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9772421" y="3813048"/>
            <a:ext cx="17334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Lehrplanbezug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9223781" y="4361688"/>
            <a:ext cx="223639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Fundstelle aus dem Fachlehrplan Sachsen-Anhalt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06F6F"/>
                </a:solidFill>
                <a:latin typeface="Lucida Sans"/>
                <a:ea typeface="Lucida Sans"/>
                <a:cs typeface="Lucida San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3512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Ein gutes Lernziel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64328" cy="3429000"/>
          </a:xfrm>
          <a:prstGeom prst="roundRect">
            <a:avLst>
              <a:gd name="adj" fmla="val 32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9D9D9C"/>
          </a:solidFill>
          <a:ln w="12700">
            <a:solidFill>
              <a:srgbClr val="9D9D9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–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00200"/>
            <a:ext cx="426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So eher nicht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481568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Die SuS programmieren den mBot2.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Die SuS haben Spaß an Technik.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Die SuS lernen Sensoren kennen.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78728" y="1371600"/>
            <a:ext cx="5364328" cy="3429000"/>
          </a:xfrm>
          <a:prstGeom prst="roundRect">
            <a:avLst>
              <a:gd name="adj" fmla="val 32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07328" y="1600200"/>
            <a:ext cx="548640" cy="54864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07328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+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193128" y="1600200"/>
            <a:ext cx="426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So ist es überprüfbar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553048" y="2286000"/>
            <a:ext cx="481568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Die SuS berechnen Längen von Fahrwegen im Raster und begründen den kürzesten Weg.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Die SuS stellen Messwerte im s-t-Diagramm dar und deuten die Steigung als Geschwindigkeit.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02920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5193792"/>
            <a:ext cx="548640" cy="548640"/>
          </a:xfrm>
          <a:prstGeom prst="ellipse">
            <a:avLst/>
          </a:prstGeom>
          <a:solidFill>
            <a:srgbClr val="EF7D00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5193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!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5029200"/>
            <a:ext cx="9997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Programmieren ist am Projekttag meist Mittel, nicht Ziel – außer am Informatiktag.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06F6F"/>
                </a:solidFill>
                <a:latin typeface="Lucida Sans"/>
                <a:ea typeface="Lucida Sans"/>
                <a:cs typeface="Lucida San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3512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Ginge das auch ohne mBot2?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4415" cy="1828800"/>
          </a:xfrm>
          <a:prstGeom prst="roundRect">
            <a:avLst>
              <a:gd name="adj" fmla="val 6000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371600"/>
            <a:ext cx="101800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Ein Reflexionsimpuls – kein Verbot. Entscheidend ist der begründete Bezug zum fachlichen Lernziel.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20440"/>
            <a:ext cx="11094415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Mehrwert z. B. durch: steuerbare, wiederholbare Bewegung; sofortige Rückmeldung; Vergleich von Modell und Messung; fächerverbindender Projektrahmen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Unzureichend: Einsatz ohne Bezug zum Lernziel („weil der Roboter da ist“)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06F6F"/>
                </a:solidFill>
                <a:latin typeface="Lucida Sans"/>
                <a:ea typeface="Lucida Sans"/>
                <a:cs typeface="Lucida San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3512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Peer-Feedback mit der Kriterienkarte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06F6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Je Gruppe: 1 Min. Live-Demo, 2–3 Min. Tagesplan. Alle anderen füllen eine Kriterienkarte aus.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87188" cy="384048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94560"/>
            <a:ext cx="548640" cy="54864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194560"/>
            <a:ext cx="42899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Kriterien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80360"/>
            <a:ext cx="48385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Lernziel klar und überprüfbar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Mehrwert begründet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Zeiten aus der Erprobung, Puffer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Hürde und Hilfe konkret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Lernnachweis, Übergabe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55868" y="1965960"/>
            <a:ext cx="5387188" cy="384048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84468" y="2194560"/>
            <a:ext cx="548640" cy="548640"/>
          </a:xfrm>
          <a:prstGeom prst="ellipse">
            <a:avLst/>
          </a:prstGeom>
          <a:solidFill>
            <a:srgbClr val="EF7D00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84468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170268" y="2194560"/>
            <a:ext cx="42899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Rückmeldung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30188" y="2880360"/>
            <a:ext cx="48385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2 × Stärke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1 × Frage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1 × Tipp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konkret und auf ein Kriterium bezogen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06F6F"/>
                </a:solidFill>
                <a:latin typeface="Lucida Sans"/>
                <a:ea typeface="Lucida Sans"/>
                <a:cs typeface="Lucida San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3512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Übergaben: Die Woche als roter Faden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602154" cy="3520440"/>
          </a:xfrm>
          <a:prstGeom prst="roundRect">
            <a:avLst>
              <a:gd name="adj" fmla="val 2811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Mo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435608"/>
            <a:ext cx="17334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→ Dienstag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84248"/>
            <a:ext cx="223639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geprüfte mBot2, Testprogramm, Prüfliste, Fehlerprotokoll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79394" y="1325880"/>
            <a:ext cx="2602154" cy="3520440"/>
          </a:xfrm>
          <a:prstGeom prst="roundRect">
            <a:avLst>
              <a:gd name="adj" fmla="val 2811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16554" y="1463040"/>
            <a:ext cx="457200" cy="45720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16554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Di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110914" y="1435608"/>
            <a:ext cx="17334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→ Mittwoch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62274" y="1984248"/>
            <a:ext cx="223639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Rasterplan, Rechnungen, gemessene Fahrabweichungen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0148" y="1325880"/>
            <a:ext cx="2602154" cy="3520440"/>
          </a:xfrm>
          <a:prstGeom prst="roundRect">
            <a:avLst>
              <a:gd name="adj" fmla="val 2811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47308" y="1463040"/>
            <a:ext cx="457200" cy="457200"/>
          </a:xfrm>
          <a:prstGeom prst="ellipse">
            <a:avLst/>
          </a:prstGeom>
          <a:solidFill>
            <a:srgbClr val="7A003F"/>
          </a:solidFill>
          <a:ln w="12700">
            <a:solidFill>
              <a:srgbClr val="7A00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47308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Mi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941668" y="1435608"/>
            <a:ext cx="17334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→ Donnerstag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93028" y="1984248"/>
            <a:ext cx="223639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Sensorwerte und begründete Schwellenwerte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040901" y="1325880"/>
            <a:ext cx="2602154" cy="3520440"/>
          </a:xfrm>
          <a:prstGeom prst="roundRect">
            <a:avLst>
              <a:gd name="adj" fmla="val 2811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78061" y="1463040"/>
            <a:ext cx="457200" cy="457200"/>
          </a:xfrm>
          <a:prstGeom prst="ellipse">
            <a:avLst/>
          </a:prstGeom>
          <a:solidFill>
            <a:srgbClr val="EF7D00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78061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Do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772421" y="1435608"/>
            <a:ext cx="17334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→ Freitag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223781" y="1984248"/>
            <a:ext cx="223639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getestetes Steuerprogramm, Ablaufdiagramm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502920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5193792"/>
            <a:ext cx="548640" cy="548640"/>
          </a:xfrm>
          <a:prstGeom prst="ellipse">
            <a:avLst/>
          </a:prstGeom>
          <a:solidFill>
            <a:srgbClr val="EF7D00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5193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!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463040" y="5029200"/>
            <a:ext cx="9997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Verbindende Strukturen: Tages-Check-in (10 Min.), Projekttagebuch (10 Min.), Expert:innen-System. Freitag gestaltet jede Schule selbst.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06F6F"/>
                </a:solidFill>
                <a:latin typeface="Lucida Sans"/>
                <a:ea typeface="Lucida Sans"/>
                <a:cs typeface="Lucida San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83512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Abschluss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54298" cy="3566160"/>
          </a:xfrm>
          <a:prstGeom prst="roundRect">
            <a:avLst>
              <a:gd name="adj" fmla="val 3177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EF7D00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691640"/>
            <a:ext cx="2265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Wo stehe ich?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290565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Selbsteinschätzung wiederholen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mit Sitzung 1 vergleichen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68698" y="1463040"/>
            <a:ext cx="3454298" cy="3566160"/>
          </a:xfrm>
          <a:prstGeom prst="roundRect">
            <a:avLst>
              <a:gd name="adj" fmla="val 3177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43018" y="1691640"/>
            <a:ext cx="548640" cy="548640"/>
          </a:xfrm>
          <a:prstGeom prst="ellipse">
            <a:avLst/>
          </a:prstGeom>
          <a:solidFill>
            <a:srgbClr val="EF7D00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43018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28818" y="1691640"/>
            <a:ext cx="2265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Praxisauftrag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43018" y="2468880"/>
            <a:ext cx="290565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Tagesplan auf eigene Lerngruppe übertragen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erproben und reflektieren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ca. 1 Seite im Moodle-Kurs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88757" y="1463040"/>
            <a:ext cx="3454298" cy="3566160"/>
          </a:xfrm>
          <a:prstGeom prst="roundRect">
            <a:avLst>
              <a:gd name="adj" fmla="val 3177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63077" y="1691640"/>
            <a:ext cx="548640" cy="548640"/>
          </a:xfrm>
          <a:prstGeom prst="ellipse">
            <a:avLst/>
          </a:prstGeom>
          <a:solidFill>
            <a:srgbClr val="EF7D00"/>
          </a:solidFill>
          <a:ln w="12700">
            <a:solidFill>
              <a:srgbClr val="EF7D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63077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148877" y="1691640"/>
            <a:ext cx="2265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003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Evaluation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463077" y="2468880"/>
            <a:ext cx="290565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5 Minuten im Selbstlernmodul 3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Ihre Rückmeldung verbessert die Reihe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06F6F"/>
                </a:solidFill>
                <a:latin typeface="Lucida Sans"/>
                <a:ea typeface="Lucida Sans"/>
                <a:cs typeface="Lucida San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ucid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ucid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Otto-von-Guericke-Universität Magdeburg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Sitzung 3 – Vom Roboter zum Unterricht</dc:title>
  <dc:subject>PptxGenJS Presentation</dc:subject>
  <dc:creator>ITVET – OVGU Magdeburg</dc:creator>
  <cp:lastModifiedBy>ITVET – OVGU Magdeburg</cp:lastModifiedBy>
  <cp:revision>1</cp:revision>
  <dcterms:created xsi:type="dcterms:W3CDTF">2026-10-04T17:57:06Z</dcterms:created>
  <dcterms:modified xsi:type="dcterms:W3CDTF">2026-10-04T17:57:06Z</dcterms:modified>
</cp:coreProperties>
</file>