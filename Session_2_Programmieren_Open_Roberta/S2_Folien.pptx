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Diese Folie läuft beim Ankommen. Parallel die nächste Folie zeigen: Ankommen = Verbinden.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aus der Erprobung: Startschwierigkeiten mit Open Roberta kosteten Zeit. Deshalb wird die Verbindung vor Beginn hergestellt. Leitung geht herum.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 Beginn die zwei häufigsten Fehler aus dem Wissenscheck 1 aufgreifen (vorher in Moodle auswerten). Meist: Endlosschleife im Startblock, Funktion des Encoders.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Hospitationsfeedback: Lernpfade funktionieren nur, wenn alle die passenden Aufgaben bearbeiten. Deshalb Selbsteinschätzung mit Empfehlung. Leitung passt bei Bedarf an. Doppeldecker: Diese Logik lässt sich direkt auf die Klasse übertragen.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Minuten. Erkenntnis: Runde 2 macht das Programm kürzer (Schleife), Runde 3 lässt den Roboter auf die Umgebung reagieren (Bedingung) – das Programm funktioniert dann auch, wenn der Stuhl verschoben wird. Begriffe an die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die Blöcke im Lab zeigen (Kategorie Kontrolle und Logik).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PRIMM nach Sentance, Waite und Kallia (2019). Im erprobten Konzept stand „erst Simulation, dann Roboter“ – das ist beim mBot2 nicht möglich. Der Vergleich Modell ↔ Wirklichkeit bleibt aber Lernziel.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Vorhersage, dann am Demo-mBot2 ausführen. Investigate-Fragen im Plenum. Modify: Tandems lassen zusätzlich den Abstand auf dem Display anzeigen (Lösungsheft 2.1). Ohne „sonst“ bleibt die LED nach dem ersten Alarm rot – gute Einsicht: Ein Zustand bleibt, bis das Programm ihn ändert.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Muster stehen im Arbeitsheft. Sie lösen das Problem der festen Endlosschleife im Startblock und machen Schwellenwerte begründbar.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Leitung geht herum und fragt: Was hast du vorhergesagt? Was ist passiert? Was änderst du als Nächstes – und nur das? Bei Verzug entfällt die Wahlaufgabe. Lösungskarten liegen nur am Leitungstisch.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Doppeldecker: Die Hilfekarten liegen im Arbeitsheft-Anhang und als Schülerfassung im Unterrichtsmaterial. Diskussionsimpuls: Ab wann nimmt eine Hilfe das Lernen weg?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Hospitationsfeedback: Die Qualität hing davon ab, wer gerade erklärt. Leitkarte und feste Stationen sichern die Qualität. Stationen z. B.: A2 Vieleck, B1 Hindernis, B2 Linienfolger, C1 Regler.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Sicherung in drei Schritten: (1) Modell und Wirklichkeit, (2) Fachbezug auf Karten, (3) Doppeldecker: Welcher Lernpfad passt zu welcher Ihrer Klassen? Optional Impuls: Der Linienfolger lernt nichts – er folgt Regeln, die Menschen festgelegt haben.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Ausblick auf Sitzung 3: Erst selbst ausprobieren, dann planen – in Fachgruppen für eine Projektwoche in Klasse 7. mBot2 an die Ladestation.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mBot2 im Fachunterricht · Sitzung 2 · CC BY 4.0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UNKEL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C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mBot2 im Fachunterricht · Sitzung 2 · CC BY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6B2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FORTBILDUNGSREIHE · DER mBOT2 IM FACHUNTERRICHT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Programmieren mit Open Roberta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5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Sequenz, Schleife, Bedingung und Sensoren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38912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174F5E"/>
          </a:solidFill>
          <a:ln w="12700">
            <a:solidFill>
              <a:srgbClr val="2C6E7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Sitzung 2 von 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46120" y="438912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174F5E"/>
          </a:solidFill>
          <a:ln w="12700">
            <a:solidFill>
              <a:srgbClr val="2C6E7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Minuten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43600" y="4389120"/>
            <a:ext cx="2514600" cy="548640"/>
          </a:xfrm>
          <a:prstGeom prst="roundRect">
            <a:avLst>
              <a:gd name="adj" fmla="val 50000"/>
            </a:avLst>
          </a:prstGeom>
          <a:solidFill>
            <a:srgbClr val="174F5E"/>
          </a:solidFill>
          <a:ln w="12700">
            <a:solidFill>
              <a:srgbClr val="2C6E7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0" y="4389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Lernpfade A · B · C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180015" y="1188720"/>
            <a:ext cx="1463040" cy="14630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180015" y="1188720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Ankommen = Verbinden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Bitte verbinden Sie Ihren mBot2 schon jetzt – dann starten wir alle gleichzeitig.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98424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Einschalten, anschließen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3288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USB-C-Datenkabel an den Laptop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22978" y="187452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60138" y="201168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601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054498" y="198424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starten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05858" y="253288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„Verbinden“ klicken, Token notieren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97317" y="187452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34477" y="201168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3447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28837" y="198424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„mBot 2“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80197" y="253288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lab.open-roberta.org, System wählen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5800" y="411480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0873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Roboter → Verbinden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63600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eingeben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22978" y="397764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60138" y="411480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6013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054498" y="40873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Testprogramm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505858" y="463600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grün + Ton auf Taste A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097317" y="3977640"/>
            <a:ext cx="3545738" cy="1920240"/>
          </a:xfrm>
          <a:prstGeom prst="roundRect">
            <a:avLst>
              <a:gd name="adj" fmla="val 3810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34477" y="4114800"/>
            <a:ext cx="457200" cy="4572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34477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828837" y="4087368"/>
            <a:ext cx="2677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Klappt nicht?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80197" y="4636008"/>
            <a:ext cx="317997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anderes Kabel, neu einschalten, Token neu – oder Leitung fragen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Ziele und Ablauf heute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Programme schreiben, die auf die Umwelt reagieren – vorhersagen, testen, verbessern.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423160"/>
            <a:ext cx="10545775" cy="0"/>
          </a:xfrm>
          <a:prstGeom prst="line">
            <a:avLst/>
          </a:prstGeom>
          <a:noFill/>
          <a:ln w="25400">
            <a:solidFill>
              <a:srgbClr val="C9DA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2655" y="214884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22655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6966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1696669" cy="2926080"/>
          </a:xfrm>
          <a:prstGeom prst="roundRect">
            <a:avLst>
              <a:gd name="adj" fmla="val 5389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429000"/>
            <a:ext cx="133090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Rückblick, Lernpfad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60520"/>
            <a:ext cx="133090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Wissenscheck 1, Lernpfad A, B oder C wählen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002204" y="214884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02204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428189" y="2834640"/>
            <a:ext cx="16966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8–18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428189" y="3291840"/>
            <a:ext cx="1696669" cy="2926080"/>
          </a:xfrm>
          <a:prstGeom prst="roundRect">
            <a:avLst>
              <a:gd name="adj" fmla="val 5389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11069" y="3429000"/>
            <a:ext cx="133090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Mensch-Roboter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611069" y="4160520"/>
            <a:ext cx="133090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Sequenz, Schleife, Bedingung ohne Computer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881753" y="214884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81753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307738" y="2834640"/>
            <a:ext cx="16966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18–33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07738" y="3291840"/>
            <a:ext cx="1696669" cy="2926080"/>
          </a:xfrm>
          <a:prstGeom prst="roundRect">
            <a:avLst>
              <a:gd name="adj" fmla="val 5389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90618" y="3429000"/>
            <a:ext cx="133090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PRIMM am Beamer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4160520"/>
            <a:ext cx="133090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 „Wachhund“ vorhersagen, testen, ändern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761302" y="214884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1302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6187288" y="2834640"/>
            <a:ext cx="16966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33–63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87288" y="3291840"/>
            <a:ext cx="1696669" cy="2926080"/>
          </a:xfrm>
          <a:prstGeom prst="roundRect">
            <a:avLst>
              <a:gd name="adj" fmla="val 5389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70168" y="3429000"/>
            <a:ext cx="133090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Lernpfade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6370168" y="4160520"/>
            <a:ext cx="133090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 + Wahl, gestufte Hilfen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8640851" y="214884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640851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066837" y="2834640"/>
            <a:ext cx="16966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63–75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066837" y="3291840"/>
            <a:ext cx="1696669" cy="2926080"/>
          </a:xfrm>
          <a:prstGeom prst="roundRect">
            <a:avLst>
              <a:gd name="adj" fmla="val 5389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9717" y="3429000"/>
            <a:ext cx="133090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Mini-Teach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8249717" y="4160520"/>
            <a:ext cx="133090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Expert:innen-Stationen mit Leitkarte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10520401" y="214884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520401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9946386" y="2834640"/>
            <a:ext cx="16966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6E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75–90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946386" y="3291840"/>
            <a:ext cx="1696669" cy="2926080"/>
          </a:xfrm>
          <a:prstGeom prst="roundRect">
            <a:avLst>
              <a:gd name="adj" fmla="val 5389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129266" y="3429000"/>
            <a:ext cx="133090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Sicherung, Ausblick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10129266" y="4160520"/>
            <a:ext cx="1330909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 und Wirklichkeit, Fachbezug, Sitzung 3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Welcher Lernpfad passt zu Ihnen?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Ja/Nein-Fragen im Arbeitsheft: Blocksprache schon genutzt? Bedingung erklärbar? Textbasiert programmiert?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 (0–1 × ja)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Pflicht: A1 Strecke messen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Wahl: A2 Vielecke oder A3 Hell-Dunkel-Licht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53458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19456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67858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Sensoren (2 × ja)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Pflicht: B1 Hindernis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Wahl: B2 Linienfolger oder B3 Zufall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58277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6877" y="219456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6877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072677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 (3 × ja)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Pflicht: C1 Linienfolger als Regler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Wahl: C2 Verhaltensmodell oder C3 Unterrichtsaufgabe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 + Wechselrecht: Sie dürfen jederzeit wechseln – nach oben wie nach unten.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Mensch-Roboter: Programmieren ohne Computer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Person ist Roboter, die andere programmiert mit Befehlskarten. Auftrag: einmal um einen Stuhl herum.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Gehe n Schritte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Drehe links 90°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Drehe rechts 90°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353458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2058" y="219456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8205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67858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zusätzlich: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 n mal [ … ]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58277" y="1965960"/>
            <a:ext cx="3484778" cy="2834640"/>
          </a:xfrm>
          <a:prstGeom prst="roundRect">
            <a:avLst>
              <a:gd name="adj" fmla="val 3871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86877" y="219456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6877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072677" y="219456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Runde 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2880360"/>
            <a:ext cx="293613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zusätzlich: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Hindernis vor dir, dann [ … ] sonst [ … ]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Danach: Wie viele Karten brauchten Sie in jeder Runde? Was kann die Wenn-Karte, was die anderen nicht können?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drei Grundstrukturen in Open Roberta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Sequenz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Anweisungen nacheinander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Blöcke untereinander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Fahre 20 cm → Drehe 90° → Fahre 20 cm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53458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67858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Schleife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 n mal (Zählschleife)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 bis / solange …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 unendlich oft (Startblock)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58277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6877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6877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72677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Bedingung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Wenn … mache … sonst …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mit Schwellenwert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Abstand &lt; 20 → LED rot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Schwellenwert = der Grenzwert, ab dem eine Bedingung „wahr“ wird. Er wird gemessen, nicht geraten.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PRIMM: erst vorhersagen, dann testen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036003" cy="3520440"/>
          </a:xfrm>
          <a:prstGeom prst="roundRect">
            <a:avLst>
              <a:gd name="adj" fmla="val 3593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46304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435608"/>
            <a:ext cx="11673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84248"/>
            <a:ext cx="1670243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wird das Programm tun? Vorhersage notieren.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813243" y="1325880"/>
            <a:ext cx="2036003" cy="3520440"/>
          </a:xfrm>
          <a:prstGeom prst="roundRect">
            <a:avLst>
              <a:gd name="adj" fmla="val 3593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50403" y="146304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50403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44763" y="1435608"/>
            <a:ext cx="11673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96123" y="1984248"/>
            <a:ext cx="1670243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mBot2 ausführen und beobachten.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77846" y="1325880"/>
            <a:ext cx="2036003" cy="3520440"/>
          </a:xfrm>
          <a:prstGeom prst="roundRect">
            <a:avLst>
              <a:gd name="adj" fmla="val 3593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15006" y="146304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5006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809366" y="1435608"/>
            <a:ext cx="11673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60726" y="1984248"/>
            <a:ext cx="1670243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passiert das? Was bewirkt welcher Block?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42449" y="1325880"/>
            <a:ext cx="2036003" cy="3520440"/>
          </a:xfrm>
          <a:prstGeom prst="roundRect">
            <a:avLst>
              <a:gd name="adj" fmla="val 3593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79609" y="1463040"/>
            <a:ext cx="457200" cy="45720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609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073969" y="1435608"/>
            <a:ext cx="11673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25329" y="1984248"/>
            <a:ext cx="1670243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Gezielt eine Sache ändern und erneut vorhersagen.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07052" y="1325880"/>
            <a:ext cx="2036003" cy="3520440"/>
          </a:xfrm>
          <a:prstGeom prst="roundRect">
            <a:avLst>
              <a:gd name="adj" fmla="val 3593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44212" y="1463040"/>
            <a:ext cx="457200" cy="45720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44212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338572" y="1435608"/>
            <a:ext cx="116732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1984248"/>
            <a:ext cx="1670243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Programm für eine neue Aufgabe entwickeln.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den mBot2 gibt es in Open Roberta keinen Simulator. Die Vorhersage übernimmt seine Rolle: Sie macht sichtbar, wo das eigene Modell nicht stimmt.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Predict: Was tut der „Wachhund“?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035040" cy="4206240"/>
          </a:xfrm>
          <a:prstGeom prst="roundRect">
            <a:avLst>
              <a:gd name="adj" fmla="val 2174"/>
            </a:avLst>
          </a:prstGeom>
          <a:solidFill>
            <a:srgbClr val="16323B"/>
          </a:solidFill>
          <a:ln w="12700">
            <a:solidFill>
              <a:srgbClr val="163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548640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Wiederhole unendlich oft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Wenn  Gib Abstand cm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Ultraschallsensor U  &lt;  20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Schalte RGB LED an  alle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Farbe rot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Spiele Note  Viertel  a'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sonst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Schalte RGB LED an  alle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F2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Farbe grün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949440" y="1371600"/>
            <a:ext cx="4693615" cy="1920240"/>
          </a:xfrm>
          <a:prstGeom prst="roundRect">
            <a:avLst>
              <a:gd name="adj" fmla="val 5714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0" y="1600200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(2 Min.)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223760" y="2103120"/>
            <a:ext cx="4144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tut der mBot2? Notieren Sie Ihre Vorhersage im Arbeitsheft.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949440" y="3474720"/>
            <a:ext cx="4693615" cy="1920240"/>
          </a:xfrm>
          <a:prstGeom prst="roundRect">
            <a:avLst>
              <a:gd name="adj" fmla="val 5714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23760" y="3703320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4206240"/>
            <a:ext cx="4144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passiert mit 5 statt 20?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steckt die Schleife?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Was, wenn „sonst“ fehlt?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Muster für alle Aufgaben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8718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42899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Messen vor Entscheiden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385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Sensorwert auf dem Display anzeigen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„wandle … um in Zeichenkette“ (Kategorie Text)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Werte notieren, dann Schwelle festlegen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55868" y="1325880"/>
            <a:ext cx="538718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84468" y="155448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8446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170268" y="1554480"/>
            <a:ext cx="42899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mit A, Stopp mit B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530188" y="2240280"/>
            <a:ext cx="48385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Warte bis Taste A gedrückt?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Wiederhole bis Taste B gedrückt? [ Programm ]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Muster B ist zugleich der Not-Aus für die Klasse: Jedes Fahrprogramm lässt sich jederzeit anhalten.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Lernpfade: Ihre Aufgaben (30 Minuten)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846320"/>
                <a:gridCol w="512064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Pflicht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Wahl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6E6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A1 Strecke messen: genau 50 cm, Strecken- vs. Zeitversion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A2 Vielecke (Drehwinkel berechnen) oder A3 Hell-Dunkel-Licht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Hindernis: stoppen, zurück, drehen; tatsächlichen Abstand messen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 Linienfolger (Zweipunktregler) oder B3 Zufall (20 Versuche)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Linienfolger als Proportionalregler, Parameter dokumentieren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Verhaltensmodell (Photokinese) oder C3 eigene Unterrichtsaufgabe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A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Für jede Aufgabe: vorhersagen → testen → messen → eine Sache ändern → wieder testen. Hilfekarten erst nach 3 Minuten eigenem Probieren.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Gestufte Hilfen und die Debugging-Regel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Denkanstoß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Frage, die auf den entscheidenden Gedanken lenkt.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53458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67858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Werkzeug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benötigten Blöcke mit ihrer Kategorie.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58277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6877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6877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72677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Teillösung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Programmgerüst mit Lücken.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Debugging-Regel: eine Änderung → testen → notieren. Wer drei Dinge gleichzeitig ändert, weiß nicht, was gewirkt hat.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Mini-Teach: Leitkarte für Erklärende (max. 4 Min.)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soll der Roboter tun? Ein Satz – und der Roboter zeigt es.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53458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55448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67858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ist die Schleife? Wo die Bedingung? Welcher Schwellenwert – und woher stammt er?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58277" y="1325880"/>
            <a:ext cx="3484778" cy="3474720"/>
          </a:xfrm>
          <a:prstGeom prst="roundRect">
            <a:avLst>
              <a:gd name="adj" fmla="val 3158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86877" y="155448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6877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072677" y="1554480"/>
            <a:ext cx="23874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Mitmachen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Gegenüber ändert eine Zahl, sagt voraus, was passiert – dann testen.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Feste Stationen, an denen die Erklärenden bleiben. Alle anderen rotieren zweimal (je 5 Min.) und notieren: eine Übernahme, eine Frage.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 und Wirklichkeit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wich Ihre Vorhersage von der Fahrt ab – und warum?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364328" cy="2926080"/>
          </a:xfrm>
          <a:prstGeom prst="roundRect">
            <a:avLst>
              <a:gd name="adj" fmla="val 3750"/>
            </a:avLst>
          </a:prstGeom>
          <a:solidFill>
            <a:srgbClr val="EEF1F2"/>
          </a:solidFill>
          <a:ln w="12700">
            <a:solidFill>
              <a:srgbClr val="EEF1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03120"/>
            <a:ext cx="548640" cy="548640"/>
          </a:xfrm>
          <a:prstGeom prst="ellipse">
            <a:avLst/>
          </a:prstGeom>
          <a:solidFill>
            <a:srgbClr val="7A8B91"/>
          </a:solidFill>
          <a:ln w="12700">
            <a:solidFill>
              <a:srgbClr val="7A8B9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0312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Modell sagt …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889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cm sind 2,45 Radumdrehungen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 genau bei 15 cm Abstand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Dreieck schließt sich exakt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78728" y="1874520"/>
            <a:ext cx="5364328" cy="2926080"/>
          </a:xfrm>
          <a:prstGeom prst="roundRect">
            <a:avLst>
              <a:gd name="adj" fmla="val 3750"/>
            </a:avLst>
          </a:prstGeom>
          <a:solidFill>
            <a:srgbClr val="E6F2F1"/>
          </a:solidFill>
          <a:ln w="12700">
            <a:solidFill>
              <a:srgbClr val="E6F2F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103120"/>
            <a:ext cx="548640" cy="548640"/>
          </a:xfrm>
          <a:prstGeom prst="ellipse">
            <a:avLst/>
          </a:prstGeom>
          <a:solidFill>
            <a:srgbClr val="0B6E69"/>
          </a:solidFill>
          <a:ln w="12700">
            <a:solidFill>
              <a:srgbClr val="0B6E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1031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193128" y="2103120"/>
            <a:ext cx="4267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Wirklichkeit zeigt …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2788920"/>
            <a:ext cx="481568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Schlupf, Untergrund, Akkustand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Reaktions- und Bremsweg</a:t>
            </a:r>
            <a:endParaRPr lang="en-US" sz="16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Sensorrauschen und Licht im Raum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094415" cy="868680"/>
          </a:xfrm>
          <a:prstGeom prst="roundRect">
            <a:avLst>
              <a:gd name="adj" fmla="val 10526"/>
            </a:avLst>
          </a:prstGeom>
          <a:solidFill>
            <a:srgbClr val="FCEBDD"/>
          </a:solidFill>
          <a:ln w="12700">
            <a:solidFill>
              <a:srgbClr val="FCEB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5193792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193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02920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Karten: „Sequenz, Schleife oder Bedingung stecken in meinem Fach in …“ → an die Pinnwand nach Fächern.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 zur nächsten Sitzung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54298" cy="3291840"/>
          </a:xfrm>
          <a:prstGeom prst="roundRect">
            <a:avLst>
              <a:gd name="adj" fmla="val 3333"/>
            </a:avLst>
          </a:prstGeom>
          <a:solidFill>
            <a:srgbClr val="174F5E"/>
          </a:solidFill>
          <a:ln w="12700">
            <a:solidFill>
              <a:srgbClr val="2C6E7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65960"/>
            <a:ext cx="2265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Selbstlernmodul 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90565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Wissenscheck (11 Fragen)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15 Minuten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exportieren und sichern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368698" y="1737360"/>
            <a:ext cx="3454298" cy="3291840"/>
          </a:xfrm>
          <a:prstGeom prst="roundRect">
            <a:avLst>
              <a:gd name="adj" fmla="val 3333"/>
            </a:avLst>
          </a:prstGeom>
          <a:solidFill>
            <a:srgbClr val="174F5E"/>
          </a:solidFill>
          <a:ln w="12700">
            <a:solidFill>
              <a:srgbClr val="2C6E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3018" y="196596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43018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328818" y="1965960"/>
            <a:ext cx="2265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Fachgruppe wählen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643018" y="2743200"/>
            <a:ext cx="290565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Technik · Mathematik · Physik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offene Gruppe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Moodle bis eine Woche vorher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88757" y="1737360"/>
            <a:ext cx="3454298" cy="3291840"/>
          </a:xfrm>
          <a:prstGeom prst="roundRect">
            <a:avLst>
              <a:gd name="adj" fmla="val 3333"/>
            </a:avLst>
          </a:prstGeom>
          <a:solidFill>
            <a:srgbClr val="174F5E"/>
          </a:solidFill>
          <a:ln w="12700">
            <a:solidFill>
              <a:srgbClr val="2C6E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63077" y="1965960"/>
            <a:ext cx="548640" cy="548640"/>
          </a:xfrm>
          <a:prstGeom prst="ellipse">
            <a:avLst/>
          </a:prstGeom>
          <a:solidFill>
            <a:srgbClr val="E8772E"/>
          </a:solidFill>
          <a:ln w="12700">
            <a:solidFill>
              <a:srgbClr val="E877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63077" y="1965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48877" y="1965960"/>
            <a:ext cx="2265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Lehrplanbezug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8463077" y="2743200"/>
            <a:ext cx="290565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Fachlehrplan Sachsen-Anhalt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Klasse 7: Wo knüpft der mBot2 an?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E6F2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Fundstelle notieren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Otto-von-Guericke-Universität Magdeburg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Sitzung 2 – Programmieren mit Open Roberta</dc:title>
  <dc:subject>PptxGenJS Presentation</dc:subject>
  <dc:creator>ITVET – OVGU Magdeburg</dc:creator>
  <cp:lastModifiedBy>ITVET – OVGU Magdeburg</cp:lastModifiedBy>
  <cp:revision>1</cp:revision>
  <dcterms:created xsi:type="dcterms:W3CDTF">2026-10-04T17:30:53Z</dcterms:created>
  <dcterms:modified xsi:type="dcterms:W3CDTF">2026-10-04T17:30:53Z</dcterms:modified>
</cp:coreProperties>
</file>