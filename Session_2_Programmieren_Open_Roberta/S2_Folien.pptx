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läuft beim Ankommen. Parallel die nächste Folie zeigen: Ankommen = Verbinden.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aus der Erprobung: Startschwierigkeiten mit Open Roberta kosteten Zeit. Deshalb wird die Verbindung vor Beginn hergestellt. Leitung geht herum.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 Beginn die zwei häufigsten Fehler aus dem Wissenscheck 1 aufgreifen (vorher in Moodle auswerten). Meist: Endlosschleife im Startblock, Funktion des Encoders.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Hospitationsfeedback: Lernpfade funktionieren nur, wenn alle die passenden Aufgaben bearbeiten. Deshalb Selbsteinschätzung mit Empfehlung. Leitung passt bei Bedarf an. Doppeldecker: Diese Logik lässt sich direkt auf die Klasse übertragen.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Minuten. Erkenntnis: Runde 2 macht das Programm kürzer (Schleife), Runde 3 lässt den Roboter auf die Umgebung reagieren (Bedingung) – das Programm funktioniert dann auch, wenn der Stuhl verschoben wird. Begriffe an die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die Blöcke im Lab zeigen (Kategorie Kontrolle und Logik).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PRIMM nach Sentance, Waite und Kallia (2019). Im erprobten Konzept stand „erst Simulation, dann Roboter“ – das ist beim mBot2 nicht möglich. Der Vergleich Modell ↔ Wirklichkeit bleibt aber Lernziel.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Vorhersage, dann am Demo-mBot2 ausführen. Investigate-Fragen im Plenum. Modify: Tandems lassen zusätzlich den Abstand auf dem Display anzeigen (Lösungsheft 2.1). Ohne „sonst“ bleibt die LED nach dem ersten Alarm rot – gute Einsicht: Ein Zustand bleibt, bis das Programm ihn ändert.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Muster stehen im Arbeitsheft. Sie lösen das Problem der festen Endlosschleife im Startblock und machen Schwellenwerte begründbar.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Leitung geht herum und fragt: Was hast du vorhergesagt? Was ist passiert? Was änderst du als Nächstes – und nur das? Bei Verzug entfällt die Wahlaufgabe. Lösungskarten liegen nur am Leitungstisch.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Doppeldecker: Die Hilfekarten liegen im Arbeitsheft-Anhang und als Schülerfassung im Unterrichtsmaterial. Diskussionsimpuls: Ab wann nimmt eine Hilfe das Lernen weg?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Hospitationsfeedback: Die Qualität hing davon ab, wer gerade erklärt. Leitkarte und feste Stationen sichern die Qualität. Stationen z. B.: A2 Vieleck, B1 Hindernis, B2 Linienfolger, C1 Regler.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Sicherung in drei Schritten: (1) Modell und Wirklichkeit, (2) Fachbezug auf Karten, (3) Doppeldecker: Welcher Lernpfad passt zu welcher Ihrer Klassen? Optional Impuls: Der Linienfolger lernt nichts – er folgt Regeln, die Menschen festgelegt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Ausblick auf Sitzung 3: Erst selbst ausprobieren, dann planen – in Fachgruppen für eine Projektwoche; die Gruppe wählt eine gemeinsame Jahrgangsstufe (Voreinstellung Klasse 7). mBot2 an die Ladestation.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Der mBot2 im Fachunterricht · Sitzung 2 · CC BY 4.0</a:t>
            </a:r>
            <a:endParaRPr lang="en-US" sz="1000" dirty="0"/>
          </a:p>
        </p:txBody>
      </p:sp>
      <p:pic>
        <p:nvPicPr>
          <p:cNvPr id="3" name="Image 0" descr="/Users/h_tegelbeckers/Library/CloudStorage/Nextcloud-cloud.ovgu.de-HannesTegelbeckers/PROF_INGPED_TECHED/Admin/Personal/Lehre/Tegelbeckers Hannes/06_Lehrinhalte/Didaktikwerkstatt/DW-T 2026/Agent_Improved/assets/ovgu_fhw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175" y="274320"/>
            <a:ext cx="2468880" cy="56475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_tegelbeckers/Library/CloudStorage/Nextcloud-cloud.ovgu.de-HannesTegelbeckers/PROF_INGPED_TECHED/Admin/Personal/Lehre/Tegelbeckers Hannes/06_Lehrinhalte/Didaktikwerkstatt/DW-T 2026/Agent_Improved/assets/ovgu_fhw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0" cy="12550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Der mBot2 im Fachunterricht · Sitzung 2 · CC BY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48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FORTBILDUNGSREIHE · DER mBOT2 IM FACHUNTERRICHT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Programmieren mit Open Roberta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Sequenz, Schleife, Bedingung und Sensoren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Sitzung 2 von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4800600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90 Minuten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4800600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Lernpfade A · B · 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88575" y="2286000"/>
            <a:ext cx="1554480" cy="155448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88575" y="22860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Ankommen = Verbinden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Bitte verbinden Sie Ihren mBot2 schon jetzt – dann starten wir alle gleichzeitig.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Einschalten, anschließen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USB-C-Datenkabel an den Laptop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2978" y="187452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0138" y="201168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01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54498" y="198424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Connector starten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05858" y="253288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„Verbinden“ klicken, Token notieren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7317" y="187452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4477" y="201168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3447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28837" y="198424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Lab: „mBot 2“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80197" y="253288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lab.open-roberta.org, System wählen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0873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Roboter → Verbinden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3600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Token eingeben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22978" y="397764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0138" y="411480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6013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54498" y="40873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Testprogramm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05858" y="463600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LED grün + Ton auf Taste 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97317" y="397764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4477" y="4114800"/>
            <a:ext cx="457200" cy="45720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34477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28837" y="40873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Klappt nicht?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80197" y="463600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anderes Kabel, neu einschalten, Token neu – oder Leitung fragen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Ziele und Ablauf heute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Ziel: Programme schreiben, die auf die Umwelt reagieren – vorhersagen, testen, verbessern.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054577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655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2655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0–8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Rückblick, Lernpfad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Wissenscheck 1, Lernpfad A, B oder C wählen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02204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220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428189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8–18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28189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11069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Mensch-Roboter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611069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Sequenz, Schleife, Bedingung ohne Computer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81753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1753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307738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18–33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07738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0618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PRIMM am Beamer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90618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Programm „Wachhund“ vorhersagen, testen, ändern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61302" y="21488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130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187288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33–63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87288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0168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Lernpfade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70168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Pflicht + Wahl, gestufte Hilfen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40851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4085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066837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63–75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66837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49717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Mini-Teach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249717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Expert:innen-Stationen mit Leitkarte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520401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2040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946386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75–90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946386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129266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Sicherung, Ausblick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129266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Modell und Wirklichkeit, Fachbezug, Sitzung 3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Welcher Lernpfad passt zu Ihnen?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Drei Ja/Nein-Fragen im Arbeitsheft: Blocksprache schon genutzt? Bedingung erklärbar? Textbasiert programmiert?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Einstieg (0–1 × ja)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Pflicht: A1 Strecke messen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Wahl: A2 Vielecke oder A3 Hell-Dunkel-Licht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7858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Sensoren (2 × ja)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Pflicht: B1 Hindernis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Wahl: B2 Linienfolger oder B3 Zufall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6877" y="219456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6877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2677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Vertiefung (3 × ja)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Pflicht: C1 Linienfolger als Regler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Wahl: C2 Verhaltensmodell oder C3 Unterrichtsaufgabe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Empfehlung + Wechselrecht: Sie dürfen jederzeit wechseln – nach oben wie nach unten.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Mensch-Roboter: Programmieren ohne Computer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Eine Person ist Roboter, die andere programmiert mit Befehlskarten. Auftrag: einmal um einen Stuhl herum.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Runde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Gehe n Schritte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Drehe links 90°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Drehe rechts 90°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7858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Runde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zusätzlich: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Wiederhole n mal [ … ]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6877" y="219456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6877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2677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Runde 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zusätzlich: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Wenn Hindernis vor dir, dann [ … ] sonst [ … ]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Danach: Wie viele Karten brauchten Sie in jeder Runde? Was kann die Wenn-Karte, was die anderen nicht können?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drei Grundstrukturen in Open Roberta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Sequenz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Anweisungen nacheinander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Blöcke untereinander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Beispiel: Fahre 20 cm → Drehe 90° → Fahre 20 cm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53458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67858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Schleife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Wiederhole n mal (Zählschleife)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Wiederhole bis / solange …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Wiederhole unendlich oft (Startblock)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8277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6877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6877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72677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Bedingung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Wenn … mache … sonst …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Vergleich mit Schwellenwert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Beispiel: Abstand &lt; 20 → LED rot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Schwellenwert = der Grenzwert, ab dem eine Bedingung „wahr“ wird. Er wird gemessen, nicht geraten.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PRIMM: erst vorhersagen, dann testen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036003" cy="3520440"/>
          </a:xfrm>
          <a:prstGeom prst="roundRect">
            <a:avLst>
              <a:gd name="adj" fmla="val 359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11673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Predict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167024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wird das Programm tun? Vorhersage notieren.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3243" y="1325880"/>
            <a:ext cx="2036003" cy="3520440"/>
          </a:xfrm>
          <a:prstGeom prst="roundRect">
            <a:avLst>
              <a:gd name="adj" fmla="val 359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0403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5040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4763" y="1435608"/>
            <a:ext cx="11673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Run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96123" y="1984248"/>
            <a:ext cx="167024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Am mBot2 ausführen und beobachten.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77846" y="1325880"/>
            <a:ext cx="2036003" cy="3520440"/>
          </a:xfrm>
          <a:prstGeom prst="roundRect">
            <a:avLst>
              <a:gd name="adj" fmla="val 359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5006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500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09366" y="1435608"/>
            <a:ext cx="11673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60726" y="1984248"/>
            <a:ext cx="167024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Warum passiert das? Was bewirkt welcher Block?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42449" y="1325880"/>
            <a:ext cx="2036003" cy="3520440"/>
          </a:xfrm>
          <a:prstGeom prst="roundRect">
            <a:avLst>
              <a:gd name="adj" fmla="val 359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609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960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73969" y="1435608"/>
            <a:ext cx="11673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Modify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25329" y="1984248"/>
            <a:ext cx="167024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Gezielt eine Sache ändern und erneut vorhersagen.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7052" y="1325880"/>
            <a:ext cx="2036003" cy="3520440"/>
          </a:xfrm>
          <a:prstGeom prst="roundRect">
            <a:avLst>
              <a:gd name="adj" fmla="val 359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44212" y="1463040"/>
            <a:ext cx="457200" cy="45720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4421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338572" y="1435608"/>
            <a:ext cx="11673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Make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1984248"/>
            <a:ext cx="167024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Eigenes Programm für eine neue Aufgabe entwickeln.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Für den mBot2 gibt es in Open Roberta keinen Simulator. Die Vorhersage übernimmt seine Rolle: Sie macht sichtbar, wo das eigene Modell nicht stimmt.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Predict: Was tut der „Wachhund“?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3C3C3B"/>
          </a:solidFill>
          <a:ln w="12700">
            <a:solidFill>
              <a:srgbClr val="3C3C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486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Wiederhole unendlich oft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Wenn  Gib Abstand cm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Ultraschallsensor U  &lt;  20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Schalte RGB LED an  alle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Farbe rot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Spiele Note  Viertel  a'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sonst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Schalte RGB LED an  alle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Farbe grün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4693615" cy="192024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60020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Predict (2 Min.)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10312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tut der mBot2? Notieren Sie Ihre Vorhersage im Arbeitsheft.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9440" y="3474720"/>
            <a:ext cx="4693615" cy="1920240"/>
          </a:xfrm>
          <a:prstGeom prst="roundRect">
            <a:avLst>
              <a:gd name="adj" fmla="val 5714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370332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20624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passiert mit 5 statt 20?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Wo steckt die Schleife?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Was, wenn „sonst“ fehlt?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Zwei Muster für alle Aufgaben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8718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Messen vor Entscheiden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38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Sensorwert auf dem Display anzeigen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„wandle … um in Zeichenkette“ (Kategorie Text)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echte Werte notieren, dann Schwelle festlegen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55868" y="1325880"/>
            <a:ext cx="538718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4468" y="155448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44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0268" y="1554480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Start mit A, Stopp mit 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240280"/>
            <a:ext cx="4838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Warte bis Taste A gedrückt?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Wiederhole bis Taste B gedrückt? [ Programm ]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Stoppe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Muster B ist zugleich der Not-Aus für die Klasse: Jedes Fahrprogramm lässt sich jederzeit anhalten.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Lernpfade: Ihre Aufgaben (30 Minuten)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846320"/>
                <a:gridCol w="5120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Pfad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Pflicht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Wahl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A1 Strecke messen: genau 50 cm, Strecken- vs. Zeitversion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A2 Vielecke (Drehwinkel berechnen) oder A3 Hell-Dunkel-Licht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B1 Hindernis: stoppen, zurück, drehen; tatsächlichen Abstand messen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B2 Linienfolger (Zweipunktregler) oder B3 Zufall (20 Versuche)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C1 Linienfolger als Proportionalregler, Parameter dokumentieren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C2 Verhaltensmodell (Photokinese) oder C3 eigene Unterrichtsaufgabe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Für jede Aufgabe: vorhersagen → testen → messen → eine Sache ändern → wieder testen. Hilfekarten erst nach 3 Minuten eigenem Probieren.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Gestufte Hilfen und die Debugging-Regel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Denkanstoß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Eine Frage, die auf den entscheidenden Gedanken lenkt.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53458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67858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Werkzeug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benötigten Blöcke mit ihrer Kategorie.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8277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6877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6877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72677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Teillösung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 Programmgerüst mit Lücken.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Debugging-Regel: eine Änderung → testen → notieren. Wer drei Dinge gleichzeitig ändert, weiß nicht, was gewirkt hat.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Mini-Teach: Leitkarte für Erklärende (max. 4 Min.)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Ziel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soll der Roboter tun? Ein Satz – und der Roboter zeigt 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3458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67858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Wo ist die Schleife? Wo die Bedingung? Welcher Schwellenwert – und woher stammt er?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8277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6877" y="155448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6877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72677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Mitmachen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Das Gegenüber ändert eine Zahl, sagt voraus, was passiert – dann testen.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Feste Stationen, an denen die Erklärenden bleiben. Alle anderen rotieren zweimal (je 5 Min.) und notieren: eine Übernahme, eine Frage.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Modell und Wirklichkeit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Wo wich Ihre Vorhersage von der Fahrt ab – und warum?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9D9D9C"/>
          </a:solidFill>
          <a:ln w="12700">
            <a:solidFill>
              <a:srgbClr val="9D9D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Das Modell sagt …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50 cm sind 2,45 Radumdrehungen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Stopp genau bei 15 cm Abstand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 Dreieck schließt sich exakt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64328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10312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210312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Wirklichkeit zeigt …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7889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Schlupf, Untergrund, Akkustand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Reaktions- und Bremsweg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Sensorrauschen und Licht im Raum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Auf Karten: „Sequenz, Schleife oder Bedingung stecken in meinem Fach in …“ → an die Pinnwand nach Fächern.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Bis zur nächsten Sitzung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Selbstlernmodul 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Wissenscheck (11 Fragen)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ca. 15 Minuten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Programme exportieren und sichern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3018" y="16916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301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28818" y="169164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Fachgruppe wählen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43018" y="246888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Technik · Mathematik · Physik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Informatik · offene Gruppe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im Moodle bis eine Woche vorher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8757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3077" y="16916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307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8877" y="169164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Lehrplanbezug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63077" y="246888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Fachlehrplan Sachsen-Anhalt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Wunsch-Jahrgangsstufe wählen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Fundstelle notieren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ucid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ucid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Otto-von-Guericke-Universität Magdeburg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Sitzung 2 – Programmieren mit Open Roberta</dc:title>
  <dc:subject>PptxGenJS Presentation</dc:subject>
  <dc:creator>ITVET – OVGU Magdeburg</dc:creator>
  <cp:lastModifiedBy>ITVET – OVGU Magdeburg</cp:lastModifiedBy>
  <cp:revision>1</cp:revision>
  <dcterms:created xsi:type="dcterms:W3CDTF">2026-10-04T17:57:06Z</dcterms:created>
  <dcterms:modified xsi:type="dcterms:W3CDTF">2026-10-04T17:57:06Z</dcterms:modified>
</cp:coreProperties>
</file>