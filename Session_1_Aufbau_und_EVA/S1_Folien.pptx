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Kurz vorstellen: Leitung, Ablauf der Reihe. Kernbotschaft: Sie brauchen kein Vorwissen – nach 90 Minuten fährt Ihr selbst gebauter Roboter mit Ihrem ersten Programm, und Sie wissen, was Ihre Klasse dafür braucht.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Überblick über die drei Sitzungen und die Selbstlernphasen dazwischen. Den Doppeldecker erklären: Wir fragen am Ende jeder Phase, was das für Ihre Klasse bedeutet.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Ablauf kurz zeigen. Die Montage ist der größte Block – in der Erprobung brauchten Tandems rund 45 Minuten. Deshalb liegen vormontierte Geräte als Plan B bereit.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Ergebnis als Strichliste auf dem Flipchart festhalten (Feedback aus der Erprobung: Das Ergebnis wurde nirgends aufgenommen). Danach heterogene Tandems bilden. Doppeldecker-Hinweis: Die Ampel ist eine schnelle Diagnose, die auch in der Klasse funktioniert – aber nur, wenn das Ergebnis sichtbar weiterverwendet wird.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Antworten auf die Leitfrage sammeln und den drei Spalten zuordnen, dann diese Folie zeigen. Am Demo-mBot2 unter der Dokumentenkamera zeigen: Wo nimmt er wahr, wo entscheidet er, wo handelt er? Danach Arbeitsheft Aufgabe 1 (8 Min.).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Plenumskontrolle (2 Min.). Denkfrage aus dem Arbeitsheft aufgreifen: Warum ist der Encoder-Motor Ausgabe und Eingabe zugleich? Antwort: Er treibt an und meldet die Drehung zurück – so kann der mBot2 genau 20 cm fahren (Regelkreis). Achtung: Viele Internet-Anleitungen beschreiben noch den alten mBot mit mCore und AA-Batterien.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Jetzt die Live-Demo unter der Dokumentenkamera: Bit umstecken, Schrauben sortieren (1 Minute). Feedback aus der Erprobung: Der Tipp auf der Folie allein ging unter. Doppeldecker: Rollen mit festem Wechsel verhindern, dass eine Person alles macht.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Reihenfolge wie in der Originalanleitung. Leitung geht herum. Zwischencheck nach Schritt 5 aktiv einfordern. Ab Minute 55: Tandems, die noch nicht bei Schritt 7 sind, bekommen einen vormontierten mBot2 und bauen ihren eigenen später fertig. Schnelle Tandems: Arbeitsheft Aufgabe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am Beamer zeigen, Schritt für Schritt. Die Installation des Connectors braucht Administratorrechte – Thema für die Reflexion am Ende (Weg 1 / Weg 2). Bei Problemen: Datenkabel? Richtiges System „mBot 2“ gewählt? Token neu erzeugen.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Beamer zeigen: Ein Fahrbefehl ohne Warte-Block wird endlos wiederholt. Das ist die häufigste Überraschung beim Einstieg mit Open Roberta und dem mBot2.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für Block am Beamer bauen und dabei laut erklären (Feedback: Code-Erklärung am Beamer). Erst Vorhersage einholen, dann ausführen. Lösung: 10 cm vor dem Start, Blick zurück zum Start. Abweichungen (Drehung nicht genau 180°) nicht wegerklären – Vorgriff auf Sitzung 2: Modell und Wirklichkeit.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Leitung hilft vor allem bei Verbindungsproblemen (Plan B: Technik-Vorbereitung Abschnitt 4). Musterlösungen im Lösungsheft – vor der Sitzung getestet.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Blitzlicht: je Tandem ein Satz. Dann die drei Reflexionsfragen. Kernsatz: Technik-Vorbereitung ist Unterrichtszeit. Danach Ampel erneut und Ergebnis neben das erste auf das Flipchart schreiben.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Abschluss. Auf das Selbstlernmodul hinweisen: Die Ergebnisse des Wissenschecks werden zu Beginn von Sitzung 2 aufgegriffen. Dank.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mBot2 im Fachunterricht · Sitzung 1 · CC BY 4.0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NKEL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mBot2 im Fachunterricht · Sitzung 1 · CC BY 4.0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6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FORTBILDUNGSREIHE · DER mBOT2 IM FACHUNTERRICHT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 mBot2 kennenlernen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Aufbau, EVA-Prinzip und erstes Programm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74F5E"/>
          </a:solidFill>
          <a:ln w="12700">
            <a:solidFill>
              <a:srgbClr val="2C6E7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89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Sitzung 1 von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438912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74F5E"/>
          </a:solidFill>
          <a:ln w="12700">
            <a:solidFill>
              <a:srgbClr val="2C6E7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4389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438912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74F5E"/>
          </a:solidFill>
          <a:ln w="12700">
            <a:solidFill>
              <a:srgbClr val="2C6E7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4389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Roberta Lab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180015" y="1188720"/>
            <a:ext cx="1463040" cy="14630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80015" y="11887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Fortbildungsreihe im Überblick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Sitzung folgt dem Dreischritt Erleben → Reflektieren → Übertragen.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Sitzung 1 · heute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mBot2 aufbauen und als System verstehen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EVA-Prinzip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Open Roberta verbinden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erstes Programm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53458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2058" y="2194560"/>
            <a:ext cx="548640" cy="54864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205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67858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Sitzung 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Sequenz, Schleife, Bedingung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Sensorwerte und Schwellenwerte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Lernpfade A/B/C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Mini-Teach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58277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6877" y="2194560"/>
            <a:ext cx="548640" cy="54864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6877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72677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Sitzung 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32597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Erprobung in Fachgruppen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Tagesplan für eine Projektwoche Klasse 7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Peer-Feedback, Übergaben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Pädagogischer Doppeldecker: Sie erleben heute selbst die Methoden, die Sie später in Ihrer Klasse einsetzen können.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Ziele und Ablauf heute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Den mBot2 selbstständig in Betrieb nehmen und das Zusammenspiel von Sensor, Steuerung und Aktor erklären.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10545775" cy="0"/>
          </a:xfrm>
          <a:prstGeom prst="line">
            <a:avLst/>
          </a:prstGeom>
          <a:noFill/>
          <a:ln w="25400">
            <a:solidFill>
              <a:srgbClr val="C9DA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0610" y="2148840"/>
            <a:ext cx="548640" cy="54864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1061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2072579" cy="2926080"/>
          </a:xfrm>
          <a:prstGeom prst="roundRect">
            <a:avLst>
              <a:gd name="adj" fmla="val 4412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429000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Ankommen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60520"/>
            <a:ext cx="170681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Ampel-Selbsteinschätzung, Tandems bilden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66069" y="2148840"/>
            <a:ext cx="548640" cy="54864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069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04099" y="283464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04099" y="3291840"/>
            <a:ext cx="2072579" cy="2926080"/>
          </a:xfrm>
          <a:prstGeom prst="roundRect">
            <a:avLst>
              <a:gd name="adj" fmla="val 4412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86979" y="3429000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und Bauteile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986979" y="4160520"/>
            <a:ext cx="170681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Leitfrage, Bauteile zuordnen (Arbeitsheft Aufgabe 1)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21528" y="2148840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152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59558" y="283464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24–62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59558" y="3291840"/>
            <a:ext cx="2072579" cy="2926080"/>
          </a:xfrm>
          <a:prstGeom prst="roundRect">
            <a:avLst>
              <a:gd name="adj" fmla="val 4412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42438" y="3429000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im Tandem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242438" y="4160520"/>
            <a:ext cx="170681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Rollen, 9 Bauschritte, Funktionsprüfung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76987" y="2148840"/>
            <a:ext cx="548640" cy="54864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76987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017" y="283464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62–80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017" y="3291840"/>
            <a:ext cx="2072579" cy="2926080"/>
          </a:xfrm>
          <a:prstGeom prst="roundRect">
            <a:avLst>
              <a:gd name="adj" fmla="val 4412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7897" y="3429000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Roberta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497897" y="4160520"/>
            <a:ext cx="170681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Verbinden, erstes Programm vorhersagen und testen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332446" y="2148840"/>
            <a:ext cx="548640" cy="54864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3244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570476" y="283464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570476" y="3291840"/>
            <a:ext cx="2072579" cy="2926080"/>
          </a:xfrm>
          <a:prstGeom prst="roundRect">
            <a:avLst>
              <a:gd name="adj" fmla="val 4412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53356" y="3429000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753356" y="4160520"/>
            <a:ext cx="170681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bedeutet das für meine Klasse? Ausblick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stehen Sie?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Halten Sie die Ampelkarte hoch, die am besten passt. Wir zählen und vergleichen am Ende.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3A9D5D"/>
          </a:solidFill>
          <a:ln w="12700">
            <a:solidFill>
              <a:srgbClr val="3A9D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kenne den mBot2 oder ähnliche Roboter und habe schon programmiert.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53458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2058" y="2194560"/>
            <a:ext cx="548640" cy="548640"/>
          </a:xfrm>
          <a:prstGeom prst="ellipse">
            <a:avLst/>
          </a:prstGeom>
          <a:solidFill>
            <a:srgbClr val="E0B020"/>
          </a:solidFill>
          <a:ln w="12700">
            <a:solidFill>
              <a:srgbClr val="E0B0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205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67858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habe schon etwas ausprobiert, z. B. Scratch, Calliope oder LEGO.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58277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6877" y="2194560"/>
            <a:ext cx="548640" cy="548640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6877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72677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32597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ist alles neu für mich.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Tandems: möglichst Grün oder Gelb zusammen mit Rot. Erfahrene erklären – fassen aber nicht 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EVA-Prinzip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Was muss ein Roboter besitzen, um wahrnehmen, entscheiden und handeln zu können?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Eingabe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WAHRNEHMEN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Sensoren erfassen die Umwelt: Abstand, Helligkeit, Farbe, Geräusch, Neigung, Tastendruck.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59454" y="3200400"/>
            <a:ext cx="548640" cy="548640"/>
          </a:xfrm>
          <a:prstGeom prst="rightArrow">
            <a:avLst/>
          </a:prstGeom>
          <a:solidFill>
            <a:srgbClr val="C9DAD8"/>
          </a:solidFill>
          <a:ln w="12700">
            <a:solidFill>
              <a:srgbClr val="C9DA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72788" y="196596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7108" y="2194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Verarbeitung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747108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47108" y="32461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CyberPi führt das Programm aus und entscheidet, was passieren soll.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83601" y="3200400"/>
            <a:ext cx="548640" cy="548640"/>
          </a:xfrm>
          <a:prstGeom prst="rightArrow">
            <a:avLst/>
          </a:prstGeom>
          <a:solidFill>
            <a:srgbClr val="C9DAD8"/>
          </a:solidFill>
          <a:ln w="12700">
            <a:solidFill>
              <a:srgbClr val="C9DA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6935" y="196596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71255" y="2194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Ausgabe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671255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HANDELN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71255" y="32461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Motoren bewegen, LEDs leuchten, Lautsprecher tönen, das Display zeigt an.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Dazu kommen Energie (Akku im Shield) und Struktur/Verbindung (Chassis, Kabel).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Bauteile des mBot2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 zu Aufgabe 1 – erst nach der Tandemphase zeigen.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8424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führt das Programm aus; enthält zusätzlich Display, LEDs, Lautsprecher, Licht- und Lagesensor, Mikrofon, Tasten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22978" y="187452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0138" y="2011680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6013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54498" y="198424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Ultraschallsensor 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05858" y="2532888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misst mit Schallwellen den Abstand zu Hindernissen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7317" y="187452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4477" y="2011680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34477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28837" y="198424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Quad-RGB-Sensor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80197" y="2532888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Einzelsensoren erkennen hell/dunkel und Farben am Boden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08736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Encoder-Motoren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636008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treiben die Räder an; der Encoder misst dabei die Drehung (auch Eingabe!)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22978" y="397764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0138" y="4114800"/>
            <a:ext cx="457200" cy="457200"/>
          </a:xfrm>
          <a:prstGeom prst="ellipse">
            <a:avLst/>
          </a:prstGeom>
          <a:solidFill>
            <a:srgbClr val="7A8B91"/>
          </a:solidFill>
          <a:ln w="12700">
            <a:solidFill>
              <a:srgbClr val="7A8B9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6013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054498" y="408736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mBot2-Shield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05858" y="4636008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eingebauter Akku (Laden per USB-C); verbindet CyberPi, Motoren und Sensoren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097317" y="397764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34477" y="4114800"/>
            <a:ext cx="457200" cy="457200"/>
          </a:xfrm>
          <a:prstGeom prst="ellipse">
            <a:avLst/>
          </a:prstGeom>
          <a:solidFill>
            <a:srgbClr val="7A8B91"/>
          </a:solidFill>
          <a:ln w="12700">
            <a:solidFill>
              <a:srgbClr val="7A8B9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34477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828837" y="408736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und Kabel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80197" y="4636008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Aluminiumrahmen trägt alles; Motor- und mBuild-Kabel übertragen Strom und Signale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Montage im Tandem: Rollen und Regeln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Navigator:in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jeden Schritt aus der Originalanleitung vor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sucht die richtigen Schrauben heraus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 das Ergebnis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53458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2058" y="1554480"/>
            <a:ext cx="548640" cy="54864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205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67858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Monteur:in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schraubt und steckt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baut nur, was vorgelesen wurde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Rollenwechsel nach Schritt 5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58277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6877" y="1554480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6877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72677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Erfahrene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32597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erklären durch Fragen und Zeigen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fassen nicht an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 Zusatzaufgaben im Arbeitsheft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Schraubendreher-Tipp: Das Bit lässt sich umstecken – Kreuzseite und Sechskantseite. Schrauben vorher nach Größe sortieren.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9 Bauschritte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45738" cy="1402080"/>
          </a:xfrm>
          <a:prstGeom prst="roundRect">
            <a:avLst>
              <a:gd name="adj" fmla="val 5217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3560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Räder und Motorkabel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84248"/>
            <a:ext cx="317997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Reifen auf die Radnaben, Motorkabel an beide Motoren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22978" y="1325880"/>
            <a:ext cx="3545738" cy="1402080"/>
          </a:xfrm>
          <a:prstGeom prst="roundRect">
            <a:avLst>
              <a:gd name="adj" fmla="val 5217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60138" y="146304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013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54498" y="143560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Motoren ans Chassis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05858" y="1984248"/>
            <a:ext cx="317997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Encoder-Motoren festschrauben · M4×8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7317" y="1325880"/>
            <a:ext cx="3545738" cy="1402080"/>
          </a:xfrm>
          <a:prstGeom prst="roundRect">
            <a:avLst>
              <a:gd name="adj" fmla="val 5217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34477" y="146304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34477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828837" y="143560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Räder anbringen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80197" y="1984248"/>
            <a:ext cx="317997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Räder auf die Motorachsen · M2,5×12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2910840"/>
            <a:ext cx="3545738" cy="1402080"/>
          </a:xfrm>
          <a:prstGeom prst="roundRect">
            <a:avLst>
              <a:gd name="adj" fmla="val 5217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04800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048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02056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Stützrad und Quad-RGB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569208"/>
            <a:ext cx="317997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Mini-Rad und Quad-RGB-Sensor unten · M4×14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22978" y="2910840"/>
            <a:ext cx="3545738" cy="1402080"/>
          </a:xfrm>
          <a:prstGeom prst="roundRect">
            <a:avLst>
              <a:gd name="adj" fmla="val 52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60138" y="3048000"/>
            <a:ext cx="457200" cy="45720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60138" y="3048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54498" y="302056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Quad-RGB verkabeln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05858" y="3569208"/>
            <a:ext cx="317997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10-cm-Kabel, nicht 20 cm! → Zwischencheck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97317" y="2910840"/>
            <a:ext cx="3545738" cy="1402080"/>
          </a:xfrm>
          <a:prstGeom prst="roundRect">
            <a:avLst>
              <a:gd name="adj" fmla="val 5217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34477" y="304800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34477" y="3048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828837" y="302056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Ultraschallsensor 2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80197" y="3569208"/>
            <a:ext cx="317997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vorn anbauen, 10-cm-Kabel · M4×14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4495800"/>
            <a:ext cx="3545738" cy="1402080"/>
          </a:xfrm>
          <a:prstGeom prst="roundRect">
            <a:avLst>
              <a:gd name="adj" fmla="val 5217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463296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63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460552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aufsetzen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5154168"/>
            <a:ext cx="317997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mBot2-Shield oben festschrauben · M4×25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322978" y="4495800"/>
            <a:ext cx="3545738" cy="1402080"/>
          </a:xfrm>
          <a:prstGeom prst="roundRect">
            <a:avLst>
              <a:gd name="adj" fmla="val 52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60138" y="4632960"/>
            <a:ext cx="457200" cy="45720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60138" y="463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054498" y="460552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Verkabeln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4505858" y="5154168"/>
            <a:ext cx="317997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Motor → EM1, rechter Motor → EM2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097317" y="4495800"/>
            <a:ext cx="3545738" cy="1402080"/>
          </a:xfrm>
          <a:prstGeom prst="roundRect">
            <a:avLst>
              <a:gd name="adj" fmla="val 5217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34477" y="463296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34477" y="463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828837" y="460552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CyberPi aufstecken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8280197" y="5154168"/>
            <a:ext cx="317997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Funktionsprüfung: Display leuchtet, Räder drehen frei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 mBot2 mit Open Roberta verbinden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45738" cy="1668780"/>
          </a:xfrm>
          <a:prstGeom prst="roundRect">
            <a:avLst>
              <a:gd name="adj" fmla="val 4384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3560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Einschalten, anschließen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84248"/>
            <a:ext cx="317997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Schalter am Shield; USB-C-Datenkabel an den Laptop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22978" y="1325880"/>
            <a:ext cx="3545738" cy="1668780"/>
          </a:xfrm>
          <a:prstGeom prst="roundRect">
            <a:avLst>
              <a:gd name="adj" fmla="val 4384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60138" y="146304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013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54498" y="143560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starten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05858" y="1984248"/>
            <a:ext cx="317997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Roberta Connector findet den mBot2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7317" y="1325880"/>
            <a:ext cx="3545738" cy="1668780"/>
          </a:xfrm>
          <a:prstGeom prst="roundRect">
            <a:avLst>
              <a:gd name="adj" fmla="val 4384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34477" y="146304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34477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828837" y="143560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Verbinden → Token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80197" y="1984248"/>
            <a:ext cx="317997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Connector zeigt einen Token (z. B. 7GH2KQ9X)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177540"/>
            <a:ext cx="3545738" cy="1668780"/>
          </a:xfrm>
          <a:prstGeom prst="roundRect">
            <a:avLst>
              <a:gd name="adj" fmla="val 4384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31470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314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28726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öffnen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835908"/>
            <a:ext cx="317997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lab.open-roberta.org → System „mBot 2“ wählen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22978" y="3177540"/>
            <a:ext cx="3545738" cy="1668780"/>
          </a:xfrm>
          <a:prstGeom prst="roundRect">
            <a:avLst>
              <a:gd name="adj" fmla="val 4384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60138" y="331470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60138" y="3314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54498" y="328726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Roboter → Verbinden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05858" y="3835908"/>
            <a:ext cx="317997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eingeben, bestätigen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97317" y="3177540"/>
            <a:ext cx="3545738" cy="1668780"/>
          </a:xfrm>
          <a:prstGeom prst="roundRect">
            <a:avLst>
              <a:gd name="adj" fmla="val 4384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34477" y="3314700"/>
            <a:ext cx="457200" cy="45720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34477" y="3314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828837" y="3287268"/>
            <a:ext cx="2677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 übertragen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80197" y="3835908"/>
            <a:ext cx="317997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Play-Knopf unten rechts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den mBot2 gibt es in Open Roberta keinen Simulator. Programme werden direkt am Gerät getestet – deshalb sagen wir vorher voraus, was passieren wird.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Merksatz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371600"/>
            <a:ext cx="101800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Beim mBot2 ist der Startblock eine Endlosschleife. Alles darin läuft immer wieder.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5852160" cy="2240280"/>
          </a:xfrm>
          <a:prstGeom prst="roundRect">
            <a:avLst>
              <a:gd name="adj" fmla="val 4082"/>
            </a:avLst>
          </a:prstGeom>
          <a:solidFill>
            <a:srgbClr val="16323B"/>
          </a:solidFill>
          <a:ln w="12700">
            <a:solidFill>
              <a:srgbClr val="163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49040"/>
            <a:ext cx="5303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Wiederhole unendlich oft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Warte bis  Taste A gedrückt?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 Ihr Programm …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3520440"/>
            <a:ext cx="487649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Schleife lässt sich nicht entfernen.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„Warte bis Taste A gedrückt?“ als erster Block: Jeder Durchlauf startet erst auf Knopfdruck.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eine gute Sicherheitsregel für die Klasse.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Erstes Programm: erst vorhersagen, dann testen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035040" cy="4206240"/>
          </a:xfrm>
          <a:prstGeom prst="roundRect">
            <a:avLst>
              <a:gd name="adj" fmla="val 2174"/>
            </a:avLst>
          </a:prstGeom>
          <a:solidFill>
            <a:srgbClr val="16323B"/>
          </a:solidFill>
          <a:ln w="12700">
            <a:solidFill>
              <a:srgbClr val="1632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486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Wiederhole unendlich oft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Warte bis  Taste A gedrückt?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Fahre vorwärts  Tempo U/min 30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Strecke cm 20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Drehe rechts    Tempo U/min 30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Grad 180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Fahre vorwärts  Tempo U/min 30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Strecke cm 10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949440" y="1371600"/>
            <a:ext cx="4693615" cy="1920240"/>
          </a:xfrm>
          <a:prstGeom prst="roundRect">
            <a:avLst>
              <a:gd name="adj" fmla="val 5714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600200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 (Tandem, 1 Min.)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103120"/>
            <a:ext cx="4144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steht der mBot2 am Ende? In welche Richtung schaut er? Skizzieren Sie Start und Ende.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49440" y="3474720"/>
            <a:ext cx="4693615" cy="1920240"/>
          </a:xfrm>
          <a:prstGeom prst="roundRect">
            <a:avLst>
              <a:gd name="adj" fmla="val 5714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3703320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testen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4206240"/>
            <a:ext cx="4144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dem Boden fahren lassen. Stimmt die Vorhersage? Was weicht ab?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Ihre Aufgaben (11 Minuten)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Pflicht: Fahren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 von der letzten Folie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vorhersagen, dann testen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Fahrtests auf dem Boden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53458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2058" y="1554480"/>
            <a:ext cx="548640" cy="54864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205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67858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Wahl: Licht, Klang, Text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rot – grün – blau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Dreiklang c′ – e′ – g′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„Hallo“ und „Wie geht es dir?“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58277" y="1325880"/>
            <a:ext cx="3484778" cy="3474720"/>
          </a:xfrm>
          <a:prstGeom prst="roundRect">
            <a:avLst>
              <a:gd name="adj" fmla="val 3158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6877" y="1554480"/>
            <a:ext cx="548640" cy="54864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6877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72677" y="155448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Zusatz: Begrüßung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32597" y="2240280"/>
            <a:ext cx="29361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fährt 30 cm auf Sie zu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leuchtet grün, spielt eine Note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 „Hallo!“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Hilfreiche Blöcke stehen im Arbeitsheft (Aufgabe 5). Erst Tandem, dann Nachbartandem, dann Leitung.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bedeutet das für Ihre Klasse?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richtet die Technik ein? Zwei Wege aus der Erprobung: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2926080"/>
          </a:xfrm>
          <a:prstGeom prst="roundRect">
            <a:avLst>
              <a:gd name="adj" fmla="val 3750"/>
            </a:avLst>
          </a:prstGeom>
          <a:solidFill>
            <a:srgbClr val="EEF1F2"/>
          </a:solidFill>
          <a:ln w="12700">
            <a:solidFill>
              <a:srgbClr val="EEF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7A8B91"/>
          </a:solidFill>
          <a:ln w="12700">
            <a:solidFill>
              <a:srgbClr val="7A8B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0312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 2: mit der Klasse einrichten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wird Teil der Stunde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kostet etwa die Hälfte der Zeit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stark kürzen (z. B. nur Fahren)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 auf Schulgeräten oft nicht vorhanden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8728" y="1874520"/>
            <a:ext cx="5364328" cy="2926080"/>
          </a:xfrm>
          <a:prstGeom prst="roundRect">
            <a:avLst>
              <a:gd name="adj" fmla="val 3750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103120"/>
            <a:ext cx="548640" cy="548640"/>
          </a:xfrm>
          <a:prstGeom prst="ellipse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193128" y="210312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 1: vorab einrichten (empfohlen)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78892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Lehrkraft installiert und testet vorher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 rechtzeitig mit der IT klären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Stunde gehört den Lernzielen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B: vormontierte, verbundene Geräte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Arbeitsheft Aufgabe 6: Zeitbedarf Montage? Was muss an Ihrer Schule vorbereitet werden? Welche Methode übernehmen Sie?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 zur nächsten Sitzung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54298" cy="3291840"/>
          </a:xfrm>
          <a:prstGeom prst="roundRect">
            <a:avLst>
              <a:gd name="adj" fmla="val 3333"/>
            </a:avLst>
          </a:prstGeom>
          <a:solidFill>
            <a:srgbClr val="174F5E"/>
          </a:solidFill>
          <a:ln w="12700">
            <a:solidFill>
              <a:srgbClr val="2C6E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65960"/>
            <a:ext cx="2265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Selbstlernmodul 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Wissenscheck (10 Fragen)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Roberta ohne Roboter erkunden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30 Minuten im Moodle-Kurs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8698" y="1737360"/>
            <a:ext cx="3454298" cy="3291840"/>
          </a:xfrm>
          <a:prstGeom prst="roundRect">
            <a:avLst>
              <a:gd name="adj" fmla="val 3333"/>
            </a:avLst>
          </a:prstGeom>
          <a:solidFill>
            <a:srgbClr val="174F5E"/>
          </a:solidFill>
          <a:ln w="12700">
            <a:solidFill>
              <a:srgbClr val="2C6E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3018" y="1965960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301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28818" y="1965960"/>
            <a:ext cx="2265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mBot2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43018" y="27432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bleiben montiert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beschriften (Nr. am Shield)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die Ladestation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8757" y="1737360"/>
            <a:ext cx="3454298" cy="3291840"/>
          </a:xfrm>
          <a:prstGeom prst="roundRect">
            <a:avLst>
              <a:gd name="adj" fmla="val 3333"/>
            </a:avLst>
          </a:prstGeom>
          <a:solidFill>
            <a:srgbClr val="174F5E"/>
          </a:solidFill>
          <a:ln w="12700">
            <a:solidFill>
              <a:srgbClr val="2C6E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63077" y="1965960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63077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8877" y="1965960"/>
            <a:ext cx="2265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Sitzung 2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463077" y="2743200"/>
            <a:ext cx="29056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Schleifen und Bedingungen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Sensoren und Schwellenwerte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Lernpfade für jedes Vorwissen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Otto-von-Guericke-Universität Magdeburg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Sitzung 1 – Den mBot2 kennenlernen</dc:title>
  <dc:subject>PptxGenJS Presentation</dc:subject>
  <dc:creator>ITVET – OVGU Magdeburg</dc:creator>
  <cp:lastModifiedBy>ITVET – OVGU Magdeburg</cp:lastModifiedBy>
  <cp:revision>1</cp:revision>
  <dcterms:created xsi:type="dcterms:W3CDTF">2026-10-04T17:30:53Z</dcterms:created>
  <dcterms:modified xsi:type="dcterms:W3CDTF">2026-10-04T17:30:53Z</dcterms:modified>
</cp:coreProperties>
</file>